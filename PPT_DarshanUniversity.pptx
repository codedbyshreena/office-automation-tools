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Placement</a:t>
            </a:r>
            <a:r>
              <a:rPr lang="en-US" baseline="0" dirty="0"/>
              <a:t> Stats For 3 Years</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2026</c:v>
                </c:pt>
              </c:strCache>
            </c:strRef>
          </c:tx>
          <c:spPr>
            <a:solidFill>
              <a:schemeClr val="accent1"/>
            </a:solidFill>
            <a:ln>
              <a:noFill/>
            </a:ln>
            <a:effectLst/>
          </c:spPr>
          <c:invertIfNegative val="0"/>
          <c:cat>
            <c:strRef>
              <c:f>Sheet1!$A$2:$A$5</c:f>
              <c:strCache>
                <c:ptCount val="3"/>
                <c:pt idx="0">
                  <c:v>Registered Students</c:v>
                </c:pt>
                <c:pt idx="1">
                  <c:v>Placed Students</c:v>
                </c:pt>
                <c:pt idx="2">
                  <c:v>Companies Visited</c:v>
                </c:pt>
              </c:strCache>
            </c:strRef>
          </c:cat>
          <c:val>
            <c:numRef>
              <c:f>Sheet1!$B$2:$B$5</c:f>
              <c:numCache>
                <c:formatCode>General</c:formatCode>
                <c:ptCount val="4"/>
                <c:pt idx="0">
                  <c:v>467</c:v>
                </c:pt>
                <c:pt idx="1">
                  <c:v>449</c:v>
                </c:pt>
                <c:pt idx="2">
                  <c:v>505</c:v>
                </c:pt>
              </c:numCache>
            </c:numRef>
          </c:val>
          <c:extLst>
            <c:ext xmlns:c16="http://schemas.microsoft.com/office/drawing/2014/chart" uri="{C3380CC4-5D6E-409C-BE32-E72D297353CC}">
              <c16:uniqueId val="{00000000-DC27-4811-9C31-0F43AF907FCD}"/>
            </c:ext>
          </c:extLst>
        </c:ser>
        <c:ser>
          <c:idx val="1"/>
          <c:order val="1"/>
          <c:tx>
            <c:strRef>
              <c:f>Sheet1!$C$1</c:f>
              <c:strCache>
                <c:ptCount val="1"/>
                <c:pt idx="0">
                  <c:v>2025</c:v>
                </c:pt>
              </c:strCache>
            </c:strRef>
          </c:tx>
          <c:spPr>
            <a:solidFill>
              <a:schemeClr val="accent2"/>
            </a:solidFill>
            <a:ln>
              <a:noFill/>
            </a:ln>
            <a:effectLst/>
          </c:spPr>
          <c:invertIfNegative val="0"/>
          <c:cat>
            <c:strRef>
              <c:f>Sheet1!$A$2:$A$5</c:f>
              <c:strCache>
                <c:ptCount val="3"/>
                <c:pt idx="0">
                  <c:v>Registered Students</c:v>
                </c:pt>
                <c:pt idx="1">
                  <c:v>Placed Students</c:v>
                </c:pt>
                <c:pt idx="2">
                  <c:v>Companies Visited</c:v>
                </c:pt>
              </c:strCache>
            </c:strRef>
          </c:cat>
          <c:val>
            <c:numRef>
              <c:f>Sheet1!$C$2:$C$5</c:f>
              <c:numCache>
                <c:formatCode>General</c:formatCode>
                <c:ptCount val="4"/>
                <c:pt idx="0">
                  <c:v>360</c:v>
                </c:pt>
                <c:pt idx="1">
                  <c:v>302</c:v>
                </c:pt>
                <c:pt idx="2">
                  <c:v>427</c:v>
                </c:pt>
              </c:numCache>
            </c:numRef>
          </c:val>
          <c:extLst>
            <c:ext xmlns:c16="http://schemas.microsoft.com/office/drawing/2014/chart" uri="{C3380CC4-5D6E-409C-BE32-E72D297353CC}">
              <c16:uniqueId val="{00000001-DC27-4811-9C31-0F43AF907FCD}"/>
            </c:ext>
          </c:extLst>
        </c:ser>
        <c:ser>
          <c:idx val="2"/>
          <c:order val="2"/>
          <c:tx>
            <c:strRef>
              <c:f>Sheet1!$D$1</c:f>
              <c:strCache>
                <c:ptCount val="1"/>
                <c:pt idx="0">
                  <c:v>2024</c:v>
                </c:pt>
              </c:strCache>
            </c:strRef>
          </c:tx>
          <c:spPr>
            <a:solidFill>
              <a:schemeClr val="accent3"/>
            </a:solidFill>
            <a:ln>
              <a:noFill/>
            </a:ln>
            <a:effectLst/>
          </c:spPr>
          <c:invertIfNegative val="0"/>
          <c:cat>
            <c:strRef>
              <c:f>Sheet1!$A$2:$A$5</c:f>
              <c:strCache>
                <c:ptCount val="3"/>
                <c:pt idx="0">
                  <c:v>Registered Students</c:v>
                </c:pt>
                <c:pt idx="1">
                  <c:v>Placed Students</c:v>
                </c:pt>
                <c:pt idx="2">
                  <c:v>Companies Visited</c:v>
                </c:pt>
              </c:strCache>
            </c:strRef>
          </c:cat>
          <c:val>
            <c:numRef>
              <c:f>Sheet1!$D$2:$D$5</c:f>
              <c:numCache>
                <c:formatCode>General</c:formatCode>
                <c:ptCount val="4"/>
                <c:pt idx="0">
                  <c:v>296</c:v>
                </c:pt>
                <c:pt idx="1">
                  <c:v>270</c:v>
                </c:pt>
                <c:pt idx="2">
                  <c:v>217</c:v>
                </c:pt>
              </c:numCache>
            </c:numRef>
          </c:val>
          <c:extLst>
            <c:ext xmlns:c16="http://schemas.microsoft.com/office/drawing/2014/chart" uri="{C3380CC4-5D6E-409C-BE32-E72D297353CC}">
              <c16:uniqueId val="{00000002-DC27-4811-9C31-0F43AF907FCD}"/>
            </c:ext>
          </c:extLst>
        </c:ser>
        <c:dLbls>
          <c:showLegendKey val="0"/>
          <c:showVal val="0"/>
          <c:showCatName val="0"/>
          <c:showSerName val="0"/>
          <c:showPercent val="0"/>
          <c:showBubbleSize val="0"/>
        </c:dLbls>
        <c:gapWidth val="219"/>
        <c:overlap val="-27"/>
        <c:axId val="926264752"/>
        <c:axId val="675463696"/>
      </c:barChart>
      <c:catAx>
        <c:axId val="926264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75463696"/>
        <c:crosses val="autoZero"/>
        <c:auto val="1"/>
        <c:lblAlgn val="ctr"/>
        <c:lblOffset val="100"/>
        <c:noMultiLvlLbl val="0"/>
      </c:catAx>
      <c:valAx>
        <c:axId val="675463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26264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PACKAGES</a:t>
            </a:r>
            <a:r>
              <a:rPr lang="en-US" baseline="0" dirty="0"/>
              <a:t> IN LPA</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4"/>
                <c:pt idx="0">
                  <c:v>DEV KHANT</c:v>
                </c:pt>
                <c:pt idx="1">
                  <c:v>MADHAVAN
DAVE</c:v>
                </c:pt>
                <c:pt idx="2">
                  <c:v>HARDIK
RAMCHANDANI</c:v>
                </c:pt>
                <c:pt idx="3">
                  <c:v>DARSHIT
DOMADIYA</c:v>
                </c:pt>
              </c:strCache>
            </c:strRef>
          </c:cat>
          <c:val>
            <c:numRef>
              <c:f>Sheet1!$B$2:$B$5</c:f>
              <c:numCache>
                <c:formatCode>General</c:formatCode>
                <c:ptCount val="4"/>
                <c:pt idx="0">
                  <c:v>30</c:v>
                </c:pt>
                <c:pt idx="1">
                  <c:v>10</c:v>
                </c:pt>
                <c:pt idx="2">
                  <c:v>6</c:v>
                </c:pt>
                <c:pt idx="3">
                  <c:v>6</c:v>
                </c:pt>
              </c:numCache>
            </c:numRef>
          </c:val>
          <c:extLst>
            <c:ext xmlns:c16="http://schemas.microsoft.com/office/drawing/2014/chart" uri="{C3380CC4-5D6E-409C-BE32-E72D297353CC}">
              <c16:uniqueId val="{00000000-CD5A-4E61-BD73-E532B4AD211E}"/>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9/24/2026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9/24/2026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9/24/2026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9/24/2026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9/24/2026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hyperlink" Target="tel:07096979952" TargetMode="External"/><Relationship Id="rId2" Type="http://schemas.openxmlformats.org/officeDocument/2006/relationships/hyperlink" Target="https://admission.darshan.ac.in/"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tel:0709697996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igitalgujarat.gov.in/" TargetMode="External"/><Relationship Id="rId2" Type="http://schemas.openxmlformats.org/officeDocument/2006/relationships/hyperlink" Target="https://mysy.guj.nic.i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darshan.ac.in/placement/list/btech-computer/2025" TargetMode="External"/><Relationship Id="rId7" Type="http://schemas.openxmlformats.org/officeDocument/2006/relationships/hyperlink" Target="https://darshan.ac.in/placement/list/mca/2025" TargetMode="Externa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hyperlink" Target="https://darshan.ac.in/placement/list/btech-mechanical/2025" TargetMode="External"/><Relationship Id="rId5" Type="http://schemas.openxmlformats.org/officeDocument/2006/relationships/hyperlink" Target="https://darshan.ac.in/placement/list/mba/2025" TargetMode="External"/><Relationship Id="rId4" Type="http://schemas.openxmlformats.org/officeDocument/2006/relationships/hyperlink" Target="https://darshan.ac.in/placement/list/btech-civil/202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6C636-ED13-7C4E-6CBD-218F2B0E4A11}"/>
              </a:ext>
            </a:extLst>
          </p:cNvPr>
          <p:cNvSpPr>
            <a:spLocks noGrp="1"/>
          </p:cNvSpPr>
          <p:nvPr>
            <p:ph type="ctrTitle"/>
          </p:nvPr>
        </p:nvSpPr>
        <p:spPr>
          <a:xfrm>
            <a:off x="1915385" y="1787652"/>
            <a:ext cx="8361229" cy="3282696"/>
          </a:xfrm>
        </p:spPr>
        <p:txBody>
          <a:bodyPr/>
          <a:lstStyle/>
          <a:p>
            <a:r>
              <a:rPr lang="en-IN" sz="4400" dirty="0" err="1"/>
              <a:t>Enrollment</a:t>
            </a:r>
            <a:r>
              <a:rPr lang="en-IN" sz="4400" dirty="0"/>
              <a:t> no : 25010101240</a:t>
            </a:r>
            <a:br>
              <a:rPr lang="en-IN" sz="4400" dirty="0"/>
            </a:br>
            <a:r>
              <a:rPr lang="en-IN" sz="4400" dirty="0"/>
              <a:t>Name : SHREENA SOLIA</a:t>
            </a:r>
            <a:br>
              <a:rPr lang="en-IN" sz="4400" dirty="0"/>
            </a:br>
            <a:r>
              <a:rPr lang="en-IN" sz="4400" dirty="0"/>
              <a:t>department : BTECH CSE</a:t>
            </a:r>
            <a:br>
              <a:rPr lang="en-IN" sz="4400" dirty="0"/>
            </a:br>
            <a:r>
              <a:rPr lang="en-IN" sz="4400" dirty="0"/>
              <a:t> semester : 3</a:t>
            </a:r>
            <a:br>
              <a:rPr lang="en-IN" sz="4400" dirty="0"/>
            </a:br>
            <a:r>
              <a:rPr lang="en-IN" sz="4400" dirty="0"/>
              <a:t>subject :  OAT</a:t>
            </a:r>
          </a:p>
        </p:txBody>
      </p:sp>
    </p:spTree>
    <p:extLst>
      <p:ext uri="{BB962C8B-B14F-4D97-AF65-F5344CB8AC3E}">
        <p14:creationId xmlns:p14="http://schemas.microsoft.com/office/powerpoint/2010/main" val="209274513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EA308-D78D-0549-921D-7424CDA1C104}"/>
              </a:ext>
            </a:extLst>
          </p:cNvPr>
          <p:cNvSpPr>
            <a:spLocks noGrp="1"/>
          </p:cNvSpPr>
          <p:nvPr>
            <p:ph type="title"/>
          </p:nvPr>
        </p:nvSpPr>
        <p:spPr>
          <a:xfrm>
            <a:off x="1371600" y="0"/>
            <a:ext cx="9601200" cy="713232"/>
          </a:xfrm>
        </p:spPr>
        <p:txBody>
          <a:bodyPr/>
          <a:lstStyle/>
          <a:p>
            <a:r>
              <a:rPr lang="en-US" dirty="0"/>
              <a:t>About Darshan University</a:t>
            </a:r>
            <a:endParaRPr lang="en-IN" dirty="0"/>
          </a:p>
        </p:txBody>
      </p:sp>
      <p:sp>
        <p:nvSpPr>
          <p:cNvPr id="3" name="Content Placeholder 2">
            <a:extLst>
              <a:ext uri="{FF2B5EF4-FFF2-40B4-BE49-F238E27FC236}">
                <a16:creationId xmlns:a16="http://schemas.microsoft.com/office/drawing/2014/main" id="{F3FF3A98-D6D7-8E52-2A28-7EAF13814A39}"/>
              </a:ext>
            </a:extLst>
          </p:cNvPr>
          <p:cNvSpPr>
            <a:spLocks noGrp="1"/>
          </p:cNvSpPr>
          <p:nvPr>
            <p:ph idx="1"/>
          </p:nvPr>
        </p:nvSpPr>
        <p:spPr>
          <a:xfrm>
            <a:off x="1371600" y="630936"/>
            <a:ext cx="9601200" cy="3356693"/>
          </a:xfrm>
        </p:spPr>
        <p:txBody>
          <a:bodyPr>
            <a:normAutofit fontScale="92500" lnSpcReduction="20000"/>
          </a:bodyPr>
          <a:lstStyle/>
          <a:p>
            <a:r>
              <a:rPr lang="en-IN" b="1" dirty="0"/>
              <a:t>Darshan University (DU)</a:t>
            </a:r>
            <a:r>
              <a:rPr lang="en-IN" dirty="0"/>
              <a:t> is a prominent institution offering a broad slate of academic programs and professional courses at the undergraduate, graduate, and postgraduate levels in </a:t>
            </a:r>
            <a:r>
              <a:rPr lang="en-IN" b="1" dirty="0"/>
              <a:t>Engineering &amp; Technology, Science, Management,</a:t>
            </a:r>
            <a:r>
              <a:rPr lang="en-IN" dirty="0"/>
              <a:t> and </a:t>
            </a:r>
            <a:r>
              <a:rPr lang="en-IN" b="1" dirty="0"/>
              <a:t>Yoga.</a:t>
            </a:r>
            <a:r>
              <a:rPr lang="en-IN" dirty="0"/>
              <a:t> The University is located in peaceful and sylvan surroundings with a distinctive collegiate structure, about 19 km from Rajkot, Gujarat, India. It was established as an Engineering Institute in 2009 by </a:t>
            </a:r>
            <a:r>
              <a:rPr lang="en-IN" b="1" dirty="0"/>
              <a:t>Shree G. N. Patel Education &amp; Charitable Trust</a:t>
            </a:r>
            <a:r>
              <a:rPr lang="en-IN" dirty="0"/>
              <a:t> with the objective of imparting quality education and training in various fields of Engineering and Technology. It has since been transformed into </a:t>
            </a:r>
            <a:r>
              <a:rPr lang="en-IN" b="1" dirty="0"/>
              <a:t>Darshan University</a:t>
            </a:r>
            <a:r>
              <a:rPr lang="en-IN" dirty="0"/>
              <a:t> through an Act by the </a:t>
            </a:r>
            <a:r>
              <a:rPr lang="en-IN" b="1" dirty="0"/>
              <a:t>Government of Gujarat under the Gujarat State Private Universities (Amendment) Act, 2021 (Act No. 15).</a:t>
            </a:r>
            <a:endParaRPr lang="en-IN" dirty="0"/>
          </a:p>
          <a:p>
            <a:r>
              <a:rPr lang="en-IN" dirty="0"/>
              <a:t>Since its inception, the institution has grown steadily and created a unique identity in the field of Engineering &amp; Technology by implementing a skill- and training-based foundation for education. The academic environment on campus fosters creativity and encourages the exploration of technical skills. Darshan University is committed to the generation of knowledge, fostering innovation, and contributing to the development of the Nation.</a:t>
            </a:r>
          </a:p>
          <a:p>
            <a:pPr marL="0" indent="0">
              <a:buNone/>
            </a:pPr>
            <a:endParaRPr lang="en-IN" dirty="0"/>
          </a:p>
        </p:txBody>
      </p:sp>
      <p:sp>
        <p:nvSpPr>
          <p:cNvPr id="4" name="Title 1">
            <a:extLst>
              <a:ext uri="{FF2B5EF4-FFF2-40B4-BE49-F238E27FC236}">
                <a16:creationId xmlns:a16="http://schemas.microsoft.com/office/drawing/2014/main" id="{4F19A194-8EC9-4CA1-5EAF-6BD750C53962}"/>
              </a:ext>
            </a:extLst>
          </p:cNvPr>
          <p:cNvSpPr txBox="1">
            <a:spLocks/>
          </p:cNvSpPr>
          <p:nvPr/>
        </p:nvSpPr>
        <p:spPr>
          <a:xfrm>
            <a:off x="1371600" y="4002024"/>
            <a:ext cx="9601200" cy="713232"/>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dirty="0"/>
              <a:t>Our Motto</a:t>
            </a:r>
            <a:endParaRPr lang="en-IN" dirty="0"/>
          </a:p>
        </p:txBody>
      </p:sp>
      <p:sp>
        <p:nvSpPr>
          <p:cNvPr id="5" name="Content Placeholder 2">
            <a:extLst>
              <a:ext uri="{FF2B5EF4-FFF2-40B4-BE49-F238E27FC236}">
                <a16:creationId xmlns:a16="http://schemas.microsoft.com/office/drawing/2014/main" id="{B8F5AEEA-1B86-E236-5C8A-A03A781C2B1C}"/>
              </a:ext>
            </a:extLst>
          </p:cNvPr>
          <p:cNvSpPr txBox="1">
            <a:spLocks/>
          </p:cNvSpPr>
          <p:nvPr/>
        </p:nvSpPr>
        <p:spPr>
          <a:xfrm>
            <a:off x="1295400" y="4593336"/>
            <a:ext cx="9601200" cy="1947672"/>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endParaRPr lang="en-IN" dirty="0"/>
          </a:p>
        </p:txBody>
      </p:sp>
      <p:sp>
        <p:nvSpPr>
          <p:cNvPr id="6" name="Content Placeholder 2">
            <a:extLst>
              <a:ext uri="{FF2B5EF4-FFF2-40B4-BE49-F238E27FC236}">
                <a16:creationId xmlns:a16="http://schemas.microsoft.com/office/drawing/2014/main" id="{6B9DF37B-6E81-FECB-122D-B9E7BD22E918}"/>
              </a:ext>
            </a:extLst>
          </p:cNvPr>
          <p:cNvSpPr txBox="1">
            <a:spLocks/>
          </p:cNvSpPr>
          <p:nvPr/>
        </p:nvSpPr>
        <p:spPr>
          <a:xfrm>
            <a:off x="1371600" y="4715256"/>
            <a:ext cx="9601200" cy="3133344"/>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IN" dirty="0"/>
              <a:t>This verse advises us to perform our allocated duty excellently. </a:t>
            </a:r>
            <a:r>
              <a:rPr lang="en-IN" dirty="0" err="1"/>
              <a:t>Kaushalam</a:t>
            </a:r>
            <a:r>
              <a:rPr lang="en-IN" dirty="0"/>
              <a:t> signifies doing work with devotion and without attachment. Such detached attitude enhances its values and improves the concentration and skill of the worker. If we work with elegance, fortitude, and skill our Body-Mind-Soul will co-operate with our hands. Any work becomes valuable if carried out with full concentration, dedication, and abilities and also helps us to become valuable to others as well as to society.</a:t>
            </a:r>
          </a:p>
        </p:txBody>
      </p:sp>
      <p:pic>
        <p:nvPicPr>
          <p:cNvPr id="7" name="Picture 6" descr="Darshan University | Our Motto">
            <a:extLst>
              <a:ext uri="{FF2B5EF4-FFF2-40B4-BE49-F238E27FC236}">
                <a16:creationId xmlns:a16="http://schemas.microsoft.com/office/drawing/2014/main" id="{59F26B11-D6FB-E1DC-51AE-890D98CC6C9B}"/>
              </a:ext>
            </a:extLst>
          </p:cNvPr>
          <p:cNvPicPr>
            <a:picLocks noChangeAspect="1"/>
          </p:cNvPicPr>
          <p:nvPr/>
        </p:nvPicPr>
        <p:blipFill>
          <a:blip r:embed="rId2"/>
          <a:stretch>
            <a:fillRect/>
          </a:stretch>
        </p:blipFill>
        <p:spPr>
          <a:xfrm>
            <a:off x="7886269" y="3987629"/>
            <a:ext cx="3086531" cy="666667"/>
          </a:xfrm>
          <a:prstGeom prst="rect">
            <a:avLst/>
          </a:prstGeom>
        </p:spPr>
      </p:pic>
    </p:spTree>
    <p:extLst>
      <p:ext uri="{BB962C8B-B14F-4D97-AF65-F5344CB8AC3E}">
        <p14:creationId xmlns:p14="http://schemas.microsoft.com/office/powerpoint/2010/main" val="393443735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FB52-2974-767A-96B6-6363E54E84DC}"/>
              </a:ext>
            </a:extLst>
          </p:cNvPr>
          <p:cNvSpPr>
            <a:spLocks noGrp="1"/>
          </p:cNvSpPr>
          <p:nvPr>
            <p:ph type="title"/>
          </p:nvPr>
        </p:nvSpPr>
        <p:spPr>
          <a:xfrm>
            <a:off x="2153553" y="268605"/>
            <a:ext cx="9601200" cy="777240"/>
          </a:xfrm>
        </p:spPr>
        <p:txBody>
          <a:bodyPr>
            <a:normAutofit fontScale="90000"/>
          </a:bodyPr>
          <a:lstStyle/>
          <a:p>
            <a:pPr algn="r"/>
            <a:r>
              <a:rPr lang="en-IN" b="1" dirty="0"/>
              <a:t>Dr. Ramnik G. </a:t>
            </a:r>
            <a:r>
              <a:rPr lang="en-IN" b="1" dirty="0" err="1"/>
              <a:t>Dhamsaniya</a:t>
            </a:r>
            <a:br>
              <a:rPr lang="en-IN" b="1" dirty="0"/>
            </a:br>
            <a:r>
              <a:rPr lang="en-IN" sz="3100" dirty="0"/>
              <a:t>President</a:t>
            </a:r>
            <a:br>
              <a:rPr lang="en-IN" dirty="0"/>
            </a:br>
            <a:endParaRPr lang="en-IN" dirty="0"/>
          </a:p>
        </p:txBody>
      </p:sp>
      <p:sp>
        <p:nvSpPr>
          <p:cNvPr id="3" name="Content Placeholder 2">
            <a:extLst>
              <a:ext uri="{FF2B5EF4-FFF2-40B4-BE49-F238E27FC236}">
                <a16:creationId xmlns:a16="http://schemas.microsoft.com/office/drawing/2014/main" id="{3DDA1F9C-883F-EBD7-ADAB-DD6B30E40C27}"/>
              </a:ext>
            </a:extLst>
          </p:cNvPr>
          <p:cNvSpPr>
            <a:spLocks noGrp="1"/>
          </p:cNvSpPr>
          <p:nvPr>
            <p:ph idx="1"/>
          </p:nvPr>
        </p:nvSpPr>
        <p:spPr>
          <a:xfrm>
            <a:off x="3758184" y="1380743"/>
            <a:ext cx="7909560" cy="5208651"/>
          </a:xfrm>
        </p:spPr>
        <p:txBody>
          <a:bodyPr>
            <a:normAutofit fontScale="92500" lnSpcReduction="20000"/>
          </a:bodyPr>
          <a:lstStyle/>
          <a:p>
            <a:pPr algn="just"/>
            <a:r>
              <a:rPr lang="en-IN" dirty="0"/>
              <a:t>Dr. Ramnik G. </a:t>
            </a:r>
            <a:r>
              <a:rPr lang="en-IN" dirty="0" err="1"/>
              <a:t>Dhamsaniya</a:t>
            </a:r>
            <a:r>
              <a:rPr lang="en-IN" dirty="0"/>
              <a:t>, the vibrant and visionary President of Darshan University and prominently recognized as a pivotal pillar and an outstanding administrator in the field of education. Upon completing his Bachelor of Civil Engineering from </a:t>
            </a:r>
            <a:r>
              <a:rPr lang="en-IN" dirty="0" err="1"/>
              <a:t>Lukhdhirji</a:t>
            </a:r>
            <a:r>
              <a:rPr lang="en-IN" dirty="0"/>
              <a:t> Engineering College, Morbi, Master of Engineering in Structural Engineering &amp; Ph.D. in Concrete Technology from Birla Vishvakarma Mahavidyalaya (BVM), Sardar Patel University.</a:t>
            </a:r>
          </a:p>
          <a:p>
            <a:pPr algn="just"/>
            <a:r>
              <a:rPr lang="en-IN" dirty="0"/>
              <a:t>He has started his career as a lecturer at L. E. College Morbi and worked for 10 years. In 1996, he has moved to V. V. P. engineering college where he has played vital role in the infrastructural &amp; academic development of the institute. He has also worked as a Principal in Atmiya Institute of Technology and Science for Diploma Studies for 2 years.</a:t>
            </a:r>
          </a:p>
          <a:p>
            <a:pPr algn="just"/>
            <a:r>
              <a:rPr lang="en-IN" dirty="0"/>
              <a:t>During 40 years of his career, He has notably contributed to the development of a quality-focused educational system and institutional governance. Being a powerful blend of distinguished academician and profound visionary, he has successfully contributed to bridging the gap between academics and industries. With the notion of skill-based education, he has established Darshan University, which is committed to developing a conducive learning environment, strengthening student progression and promoting value-based education.</a:t>
            </a:r>
          </a:p>
        </p:txBody>
      </p:sp>
      <p:pic>
        <p:nvPicPr>
          <p:cNvPr id="7" name="Picture 6" descr="Dr. Ramnik G. Dhamsaniya | President at Darshan University">
            <a:extLst>
              <a:ext uri="{FF2B5EF4-FFF2-40B4-BE49-F238E27FC236}">
                <a16:creationId xmlns:a16="http://schemas.microsoft.com/office/drawing/2014/main" id="{1E3EE630-E9DC-0C05-D092-802A21D87671}"/>
              </a:ext>
            </a:extLst>
          </p:cNvPr>
          <p:cNvPicPr>
            <a:picLocks noChangeAspect="1"/>
          </p:cNvPicPr>
          <p:nvPr/>
        </p:nvPicPr>
        <p:blipFill>
          <a:blip r:embed="rId2"/>
          <a:stretch>
            <a:fillRect/>
          </a:stretch>
        </p:blipFill>
        <p:spPr>
          <a:xfrm>
            <a:off x="1001143" y="268605"/>
            <a:ext cx="2644199" cy="2785491"/>
          </a:xfrm>
          <a:prstGeom prst="rect">
            <a:avLst/>
          </a:prstGeom>
        </p:spPr>
      </p:pic>
    </p:spTree>
    <p:extLst>
      <p:ext uri="{BB962C8B-B14F-4D97-AF65-F5344CB8AC3E}">
        <p14:creationId xmlns:p14="http://schemas.microsoft.com/office/powerpoint/2010/main" val="311766327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4DA7-2583-5AFB-2EAA-495E6234C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CF61B-0ED9-FDC9-AEEA-D1C534214306}"/>
              </a:ext>
            </a:extLst>
          </p:cNvPr>
          <p:cNvSpPr>
            <a:spLocks noGrp="1"/>
          </p:cNvSpPr>
          <p:nvPr>
            <p:ph type="title"/>
          </p:nvPr>
        </p:nvSpPr>
        <p:spPr>
          <a:xfrm>
            <a:off x="2153553" y="268605"/>
            <a:ext cx="9601200" cy="777240"/>
          </a:xfrm>
        </p:spPr>
        <p:txBody>
          <a:bodyPr>
            <a:normAutofit fontScale="90000"/>
          </a:bodyPr>
          <a:lstStyle/>
          <a:p>
            <a:pPr algn="r"/>
            <a:r>
              <a:rPr lang="en-IN" b="1" dirty="0"/>
              <a:t>Prof. Manish V. Sanghani</a:t>
            </a:r>
            <a:br>
              <a:rPr lang="en-IN" b="1" dirty="0"/>
            </a:br>
            <a:r>
              <a:rPr lang="en-IN" sz="3100" dirty="0"/>
              <a:t>Provost</a:t>
            </a:r>
            <a:endParaRPr lang="en-IN" dirty="0"/>
          </a:p>
        </p:txBody>
      </p:sp>
      <p:sp>
        <p:nvSpPr>
          <p:cNvPr id="3" name="Content Placeholder 2">
            <a:extLst>
              <a:ext uri="{FF2B5EF4-FFF2-40B4-BE49-F238E27FC236}">
                <a16:creationId xmlns:a16="http://schemas.microsoft.com/office/drawing/2014/main" id="{BDA490A7-5C84-D3AE-D63B-41006015611F}"/>
              </a:ext>
            </a:extLst>
          </p:cNvPr>
          <p:cNvSpPr>
            <a:spLocks noGrp="1"/>
          </p:cNvSpPr>
          <p:nvPr>
            <p:ph idx="1"/>
          </p:nvPr>
        </p:nvSpPr>
        <p:spPr>
          <a:xfrm>
            <a:off x="3758184" y="1380743"/>
            <a:ext cx="7909560" cy="5208651"/>
          </a:xfrm>
        </p:spPr>
        <p:txBody>
          <a:bodyPr>
            <a:normAutofit fontScale="92500" lnSpcReduction="10000"/>
          </a:bodyPr>
          <a:lstStyle/>
          <a:p>
            <a:pPr algn="just"/>
            <a:r>
              <a:rPr lang="en-IN" dirty="0"/>
              <a:t>Prof. Manish V. Sanghani, an academician with an in-depth knowledge and profound skill set in teaching pedagogy, education and administration. He has completed his Bachelor of Civil Engineering from </a:t>
            </a:r>
            <a:r>
              <a:rPr lang="en-IN" dirty="0" err="1"/>
              <a:t>Lukhdhirji</a:t>
            </a:r>
            <a:r>
              <a:rPr lang="en-IN" dirty="0"/>
              <a:t> Engineering College, Morbi, and his Master of Engineering in Structural Engineering from The Maharaja Sayajirao University, Baroda.</a:t>
            </a:r>
          </a:p>
          <a:p>
            <a:pPr algn="just"/>
            <a:r>
              <a:rPr lang="en-IN" dirty="0"/>
              <a:t>He has started his career as a lecturer at Dr. Jivraj Mehta Government Polytechnic for 10 years. In 1997, he has moved to V. V. P. engineering college where he has worked as an Assistant Professor for 11 years.</a:t>
            </a:r>
          </a:p>
          <a:p>
            <a:pPr algn="just"/>
            <a:r>
              <a:rPr lang="en-IN" dirty="0"/>
              <a:t>He plays a vital role in integrating academics with industries. His career experience spans around 37 years and, presently he is the founder and Provost of the University. He has contributed towards the development and effective implementation of numerous education initiatives. He has been a key person to enhance the educational framework at the University and streamline it with the expectations of industries &amp; corporate sectors. He is committed to creating an effective skill and training-based foundation for education where students are empowered to concrete their experience of learning and gain an edge in an increasingly competitive workforce.</a:t>
            </a:r>
          </a:p>
        </p:txBody>
      </p:sp>
      <p:pic>
        <p:nvPicPr>
          <p:cNvPr id="4" name="Picture 3" descr="Prof. Manish V. Sanghani | Provost &amp; Dean at Darshan University">
            <a:extLst>
              <a:ext uri="{FF2B5EF4-FFF2-40B4-BE49-F238E27FC236}">
                <a16:creationId xmlns:a16="http://schemas.microsoft.com/office/drawing/2014/main" id="{C73C1AB0-C1FB-7BD7-9216-1788CD014C39}"/>
              </a:ext>
            </a:extLst>
          </p:cNvPr>
          <p:cNvPicPr>
            <a:picLocks noChangeAspect="1"/>
          </p:cNvPicPr>
          <p:nvPr/>
        </p:nvPicPr>
        <p:blipFill>
          <a:blip r:embed="rId2"/>
          <a:stretch>
            <a:fillRect/>
          </a:stretch>
        </p:blipFill>
        <p:spPr>
          <a:xfrm>
            <a:off x="940558" y="233809"/>
            <a:ext cx="2739615" cy="2683127"/>
          </a:xfrm>
          <a:prstGeom prst="rect">
            <a:avLst/>
          </a:prstGeom>
        </p:spPr>
      </p:pic>
    </p:spTree>
    <p:extLst>
      <p:ext uri="{BB962C8B-B14F-4D97-AF65-F5344CB8AC3E}">
        <p14:creationId xmlns:p14="http://schemas.microsoft.com/office/powerpoint/2010/main" val="1370737310"/>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729AE-964E-CE3D-6906-B6DBA1778D00}"/>
              </a:ext>
            </a:extLst>
          </p:cNvPr>
          <p:cNvSpPr>
            <a:spLocks noGrp="1"/>
          </p:cNvSpPr>
          <p:nvPr>
            <p:ph type="title"/>
          </p:nvPr>
        </p:nvSpPr>
        <p:spPr>
          <a:xfrm>
            <a:off x="1371600" y="566928"/>
            <a:ext cx="9601200" cy="758952"/>
          </a:xfrm>
        </p:spPr>
        <p:txBody>
          <a:bodyPr>
            <a:normAutofit fontScale="90000"/>
          </a:bodyPr>
          <a:lstStyle/>
          <a:p>
            <a:r>
              <a:rPr lang="en-IN" sz="6000" dirty="0"/>
              <a:t>University Authority </a:t>
            </a:r>
            <a:br>
              <a:rPr lang="en-IN" sz="6000" dirty="0"/>
            </a:br>
            <a:r>
              <a:rPr lang="en-IN" sz="3100" dirty="0"/>
              <a:t>BoS – (Computer Science &amp; Engineering)</a:t>
            </a:r>
          </a:p>
        </p:txBody>
      </p:sp>
      <p:pic>
        <p:nvPicPr>
          <p:cNvPr id="5" name="Picture 4" descr="Dr. Gopi Bhupendrabhai Sanghani -">
            <a:extLst>
              <a:ext uri="{FF2B5EF4-FFF2-40B4-BE49-F238E27FC236}">
                <a16:creationId xmlns:a16="http://schemas.microsoft.com/office/drawing/2014/main" id="{51259B60-F14A-67AE-A20F-DC1EFDE2B316}"/>
              </a:ext>
            </a:extLst>
          </p:cNvPr>
          <p:cNvPicPr>
            <a:picLocks noChangeAspect="1"/>
          </p:cNvPicPr>
          <p:nvPr/>
        </p:nvPicPr>
        <p:blipFill>
          <a:blip r:embed="rId2"/>
          <a:stretch>
            <a:fillRect/>
          </a:stretch>
        </p:blipFill>
        <p:spPr>
          <a:xfrm>
            <a:off x="1371600" y="2238375"/>
            <a:ext cx="2381250" cy="2381250"/>
          </a:xfrm>
          <a:prstGeom prst="rect">
            <a:avLst/>
          </a:prstGeom>
        </p:spPr>
      </p:pic>
      <p:sp>
        <p:nvSpPr>
          <p:cNvPr id="7" name="TextBox 6">
            <a:extLst>
              <a:ext uri="{FF2B5EF4-FFF2-40B4-BE49-F238E27FC236}">
                <a16:creationId xmlns:a16="http://schemas.microsoft.com/office/drawing/2014/main" id="{F27A93D1-39EE-8D2C-86B8-83B920D436F5}"/>
              </a:ext>
            </a:extLst>
          </p:cNvPr>
          <p:cNvSpPr txBox="1"/>
          <p:nvPr/>
        </p:nvSpPr>
        <p:spPr>
          <a:xfrm>
            <a:off x="1461516" y="5208954"/>
            <a:ext cx="2201418" cy="646331"/>
          </a:xfrm>
          <a:prstGeom prst="rect">
            <a:avLst/>
          </a:prstGeom>
          <a:noFill/>
        </p:spPr>
        <p:txBody>
          <a:bodyPr wrap="square">
            <a:spAutoFit/>
          </a:bodyPr>
          <a:lstStyle/>
          <a:p>
            <a:pPr algn="ctr"/>
            <a:r>
              <a:rPr lang="en-IN" sz="1800" b="1" i="0" dirty="0">
                <a:solidFill>
                  <a:schemeClr val="tx1"/>
                </a:solidFill>
                <a:effectLst/>
                <a:latin typeface="+mn-lt"/>
              </a:rPr>
              <a:t>Dr. Gopi B. Sanghani</a:t>
            </a:r>
            <a:br>
              <a:rPr lang="en-IN" dirty="0"/>
            </a:br>
            <a:r>
              <a:rPr lang="en-IN" i="1" dirty="0">
                <a:effectLst/>
              </a:rPr>
              <a:t>Dean, DICA</a:t>
            </a:r>
            <a:endParaRPr lang="en-IN" dirty="0"/>
          </a:p>
        </p:txBody>
      </p:sp>
      <p:pic>
        <p:nvPicPr>
          <p:cNvPr id="8" name="Picture 7" descr="Dr. Nilesh Maganbhai Gambhava -">
            <a:extLst>
              <a:ext uri="{FF2B5EF4-FFF2-40B4-BE49-F238E27FC236}">
                <a16:creationId xmlns:a16="http://schemas.microsoft.com/office/drawing/2014/main" id="{2497A931-5234-8B39-0010-5FF0805DCEB0}"/>
              </a:ext>
            </a:extLst>
          </p:cNvPr>
          <p:cNvPicPr>
            <a:picLocks noChangeAspect="1"/>
          </p:cNvPicPr>
          <p:nvPr/>
        </p:nvPicPr>
        <p:blipFill>
          <a:blip r:embed="rId3"/>
          <a:stretch>
            <a:fillRect/>
          </a:stretch>
        </p:blipFill>
        <p:spPr>
          <a:xfrm>
            <a:off x="4981575" y="2238375"/>
            <a:ext cx="2381250" cy="2381250"/>
          </a:xfrm>
          <a:prstGeom prst="rect">
            <a:avLst/>
          </a:prstGeom>
        </p:spPr>
      </p:pic>
      <p:sp>
        <p:nvSpPr>
          <p:cNvPr id="10" name="TextBox 9">
            <a:extLst>
              <a:ext uri="{FF2B5EF4-FFF2-40B4-BE49-F238E27FC236}">
                <a16:creationId xmlns:a16="http://schemas.microsoft.com/office/drawing/2014/main" id="{C2537F0F-CDDF-3851-9AB2-11FB65A024D5}"/>
              </a:ext>
            </a:extLst>
          </p:cNvPr>
          <p:cNvSpPr txBox="1"/>
          <p:nvPr/>
        </p:nvSpPr>
        <p:spPr>
          <a:xfrm>
            <a:off x="4847463" y="5208954"/>
            <a:ext cx="2649474" cy="646331"/>
          </a:xfrm>
          <a:prstGeom prst="rect">
            <a:avLst/>
          </a:prstGeom>
          <a:noFill/>
        </p:spPr>
        <p:txBody>
          <a:bodyPr wrap="square">
            <a:spAutoFit/>
          </a:bodyPr>
          <a:lstStyle/>
          <a:p>
            <a:pPr algn="ctr"/>
            <a:r>
              <a:rPr lang="en-IN" sz="1800" b="1" i="0" dirty="0">
                <a:solidFill>
                  <a:schemeClr val="tx1"/>
                </a:solidFill>
                <a:effectLst/>
                <a:latin typeface="+mn-lt"/>
              </a:rPr>
              <a:t>Dr. Nilesh M. </a:t>
            </a:r>
            <a:r>
              <a:rPr lang="en-IN" sz="1800" b="1" i="0" dirty="0" err="1">
                <a:solidFill>
                  <a:schemeClr val="tx1"/>
                </a:solidFill>
                <a:effectLst/>
                <a:latin typeface="+mn-lt"/>
              </a:rPr>
              <a:t>Gambhava</a:t>
            </a:r>
            <a:br>
              <a:rPr lang="en-IN" dirty="0"/>
            </a:br>
            <a:r>
              <a:rPr lang="en-IN" i="1" dirty="0">
                <a:effectLst/>
              </a:rPr>
              <a:t>Vice Provost, DU</a:t>
            </a:r>
            <a:endParaRPr lang="en-IN" dirty="0"/>
          </a:p>
        </p:txBody>
      </p:sp>
      <p:pic>
        <p:nvPicPr>
          <p:cNvPr id="11" name="Picture 10" descr="Dr. Pradyumansinh U. Jadeja -">
            <a:extLst>
              <a:ext uri="{FF2B5EF4-FFF2-40B4-BE49-F238E27FC236}">
                <a16:creationId xmlns:a16="http://schemas.microsoft.com/office/drawing/2014/main" id="{525BEE78-6AEA-FA96-DDF0-53762C97C51F}"/>
              </a:ext>
            </a:extLst>
          </p:cNvPr>
          <p:cNvPicPr>
            <a:picLocks noChangeAspect="1"/>
          </p:cNvPicPr>
          <p:nvPr/>
        </p:nvPicPr>
        <p:blipFill>
          <a:blip r:embed="rId4"/>
          <a:stretch>
            <a:fillRect/>
          </a:stretch>
        </p:blipFill>
        <p:spPr>
          <a:xfrm>
            <a:off x="8591550" y="2238375"/>
            <a:ext cx="2381250" cy="2381250"/>
          </a:xfrm>
          <a:prstGeom prst="rect">
            <a:avLst/>
          </a:prstGeom>
        </p:spPr>
      </p:pic>
      <p:sp>
        <p:nvSpPr>
          <p:cNvPr id="13" name="TextBox 12">
            <a:extLst>
              <a:ext uri="{FF2B5EF4-FFF2-40B4-BE49-F238E27FC236}">
                <a16:creationId xmlns:a16="http://schemas.microsoft.com/office/drawing/2014/main" id="{CEC4BA53-07EC-F9E8-558E-02CD98E83F9E}"/>
              </a:ext>
            </a:extLst>
          </p:cNvPr>
          <p:cNvSpPr txBox="1"/>
          <p:nvPr/>
        </p:nvSpPr>
        <p:spPr>
          <a:xfrm>
            <a:off x="8301990" y="5208953"/>
            <a:ext cx="2960370" cy="646331"/>
          </a:xfrm>
          <a:prstGeom prst="rect">
            <a:avLst/>
          </a:prstGeom>
          <a:noFill/>
        </p:spPr>
        <p:txBody>
          <a:bodyPr wrap="square">
            <a:spAutoFit/>
          </a:bodyPr>
          <a:lstStyle/>
          <a:p>
            <a:pPr algn="ctr"/>
            <a:r>
              <a:rPr lang="en-IN" sz="1800" b="1" i="0" dirty="0">
                <a:solidFill>
                  <a:schemeClr val="tx1"/>
                </a:solidFill>
                <a:effectLst/>
                <a:latin typeface="+mn-lt"/>
              </a:rPr>
              <a:t>Dr. </a:t>
            </a:r>
            <a:r>
              <a:rPr lang="en-IN" sz="1800" b="1" i="0" dirty="0" err="1">
                <a:solidFill>
                  <a:schemeClr val="tx1"/>
                </a:solidFill>
                <a:effectLst/>
                <a:latin typeface="+mn-lt"/>
              </a:rPr>
              <a:t>Pradyumansinh</a:t>
            </a:r>
            <a:r>
              <a:rPr lang="en-IN" sz="1800" b="1" i="0" dirty="0">
                <a:solidFill>
                  <a:schemeClr val="tx1"/>
                </a:solidFill>
                <a:effectLst/>
                <a:latin typeface="+mn-lt"/>
              </a:rPr>
              <a:t> U. Jadeja</a:t>
            </a:r>
            <a:br>
              <a:rPr lang="en-IN" dirty="0"/>
            </a:br>
            <a:r>
              <a:rPr lang="en-IN" i="1" dirty="0">
                <a:effectLst/>
              </a:rPr>
              <a:t>CSE Department, DIET</a:t>
            </a:r>
            <a:endParaRPr lang="en-IN" dirty="0"/>
          </a:p>
        </p:txBody>
      </p:sp>
      <p:sp>
        <p:nvSpPr>
          <p:cNvPr id="15" name="TextBox 14">
            <a:extLst>
              <a:ext uri="{FF2B5EF4-FFF2-40B4-BE49-F238E27FC236}">
                <a16:creationId xmlns:a16="http://schemas.microsoft.com/office/drawing/2014/main" id="{23730B83-EEAD-8B1D-8A9E-0351D2203DCB}"/>
              </a:ext>
            </a:extLst>
          </p:cNvPr>
          <p:cNvSpPr txBox="1"/>
          <p:nvPr/>
        </p:nvSpPr>
        <p:spPr>
          <a:xfrm>
            <a:off x="1934337" y="4787331"/>
            <a:ext cx="6094476" cy="253916"/>
          </a:xfrm>
          <a:prstGeom prst="rect">
            <a:avLst/>
          </a:prstGeom>
          <a:noFill/>
        </p:spPr>
        <p:txBody>
          <a:bodyPr wrap="square">
            <a:spAutoFit/>
          </a:bodyPr>
          <a:lstStyle/>
          <a:p>
            <a:r>
              <a:rPr lang="en-IN" sz="1800" b="0" i="0" dirty="0">
                <a:solidFill>
                  <a:schemeClr val="tx1"/>
                </a:solidFill>
                <a:effectLst/>
                <a:latin typeface="+mn-lt"/>
              </a:rPr>
              <a:t>Chairperson</a:t>
            </a:r>
            <a:endParaRPr lang="en-IN" dirty="0"/>
          </a:p>
        </p:txBody>
      </p:sp>
      <p:sp>
        <p:nvSpPr>
          <p:cNvPr id="17" name="TextBox 16">
            <a:extLst>
              <a:ext uri="{FF2B5EF4-FFF2-40B4-BE49-F238E27FC236}">
                <a16:creationId xmlns:a16="http://schemas.microsoft.com/office/drawing/2014/main" id="{3FDE0A36-FB1B-AB2D-507C-AAC945B5CD3D}"/>
              </a:ext>
            </a:extLst>
          </p:cNvPr>
          <p:cNvSpPr txBox="1"/>
          <p:nvPr/>
        </p:nvSpPr>
        <p:spPr>
          <a:xfrm>
            <a:off x="5790438" y="4787331"/>
            <a:ext cx="1387602" cy="369332"/>
          </a:xfrm>
          <a:prstGeom prst="rect">
            <a:avLst/>
          </a:prstGeom>
          <a:noFill/>
        </p:spPr>
        <p:txBody>
          <a:bodyPr wrap="square">
            <a:spAutoFit/>
          </a:bodyPr>
          <a:lstStyle/>
          <a:p>
            <a:r>
              <a:rPr lang="en-IN" sz="1800" b="0" i="0" dirty="0">
                <a:solidFill>
                  <a:schemeClr val="tx1"/>
                </a:solidFill>
                <a:effectLst/>
                <a:latin typeface="+mn-lt"/>
              </a:rPr>
              <a:t>Member</a:t>
            </a:r>
            <a:endParaRPr lang="en-IN" dirty="0"/>
          </a:p>
        </p:txBody>
      </p:sp>
      <p:sp>
        <p:nvSpPr>
          <p:cNvPr id="19" name="TextBox 18">
            <a:extLst>
              <a:ext uri="{FF2B5EF4-FFF2-40B4-BE49-F238E27FC236}">
                <a16:creationId xmlns:a16="http://schemas.microsoft.com/office/drawing/2014/main" id="{C6CC999E-5112-6002-6B4B-76090543E8DF}"/>
              </a:ext>
            </a:extLst>
          </p:cNvPr>
          <p:cNvSpPr txBox="1"/>
          <p:nvPr/>
        </p:nvSpPr>
        <p:spPr>
          <a:xfrm>
            <a:off x="9353550" y="4816150"/>
            <a:ext cx="1387602" cy="369332"/>
          </a:xfrm>
          <a:prstGeom prst="rect">
            <a:avLst/>
          </a:prstGeom>
          <a:noFill/>
        </p:spPr>
        <p:txBody>
          <a:bodyPr wrap="square">
            <a:spAutoFit/>
          </a:bodyPr>
          <a:lstStyle/>
          <a:p>
            <a:r>
              <a:rPr lang="en-IN" sz="1800" b="0" i="0" dirty="0">
                <a:solidFill>
                  <a:schemeClr val="tx1"/>
                </a:solidFill>
                <a:effectLst/>
                <a:latin typeface="+mn-lt"/>
              </a:rPr>
              <a:t>Member</a:t>
            </a:r>
            <a:endParaRPr lang="en-IN" dirty="0"/>
          </a:p>
        </p:txBody>
      </p:sp>
    </p:spTree>
    <p:extLst>
      <p:ext uri="{BB962C8B-B14F-4D97-AF65-F5344CB8AC3E}">
        <p14:creationId xmlns:p14="http://schemas.microsoft.com/office/powerpoint/2010/main" val="328615782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10" grpId="0"/>
      <p:bldP spid="13" grpId="0"/>
      <p:bldP spid="15" grpId="0"/>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DF47-C162-0704-8C9C-FB24120B7192}"/>
              </a:ext>
            </a:extLst>
          </p:cNvPr>
          <p:cNvSpPr>
            <a:spLocks noGrp="1"/>
          </p:cNvSpPr>
          <p:nvPr>
            <p:ph type="title"/>
          </p:nvPr>
        </p:nvSpPr>
        <p:spPr>
          <a:xfrm>
            <a:off x="1371600" y="268224"/>
            <a:ext cx="9601200" cy="722376"/>
          </a:xfrm>
        </p:spPr>
        <p:txBody>
          <a:bodyPr>
            <a:normAutofit/>
          </a:bodyPr>
          <a:lstStyle/>
          <a:p>
            <a:r>
              <a:rPr lang="en-IN" dirty="0"/>
              <a:t>Programs Offered </a:t>
            </a:r>
          </a:p>
        </p:txBody>
      </p:sp>
      <p:sp>
        <p:nvSpPr>
          <p:cNvPr id="3" name="Content Placeholder 2">
            <a:extLst>
              <a:ext uri="{FF2B5EF4-FFF2-40B4-BE49-F238E27FC236}">
                <a16:creationId xmlns:a16="http://schemas.microsoft.com/office/drawing/2014/main" id="{74918568-1852-8616-B71E-4A577E089FCB}"/>
              </a:ext>
            </a:extLst>
          </p:cNvPr>
          <p:cNvSpPr>
            <a:spLocks noGrp="1"/>
          </p:cNvSpPr>
          <p:nvPr>
            <p:ph idx="1"/>
          </p:nvPr>
        </p:nvSpPr>
        <p:spPr>
          <a:xfrm>
            <a:off x="1371600" y="1281684"/>
            <a:ext cx="9601200" cy="4294632"/>
          </a:xfrm>
        </p:spPr>
        <p:txBody>
          <a:bodyPr/>
          <a:lstStyle/>
          <a:p>
            <a:pPr marL="0" indent="0">
              <a:buNone/>
            </a:pPr>
            <a:r>
              <a:rPr lang="en-IN" sz="2800" b="1" dirty="0"/>
              <a:t>Admission 2026</a:t>
            </a:r>
            <a:endParaRPr lang="en-IN" sz="2800" dirty="0"/>
          </a:p>
          <a:p>
            <a:pPr marL="0" indent="0">
              <a:buNone/>
            </a:pPr>
            <a:r>
              <a:rPr lang="en-IN" dirty="0"/>
              <a:t>Direct Admission for all programs has already started. Kindly apply online on </a:t>
            </a:r>
            <a:r>
              <a:rPr lang="en-IN" i="1" dirty="0">
                <a:hlinkClick r:id="rId2"/>
              </a:rPr>
              <a:t>DU Direct Admission Portal</a:t>
            </a:r>
            <a:r>
              <a:rPr lang="en-IN" dirty="0"/>
              <a:t>.</a:t>
            </a:r>
            <a:br>
              <a:rPr lang="en-IN" dirty="0"/>
            </a:br>
            <a:r>
              <a:rPr lang="en-IN" b="1" dirty="0"/>
              <a:t>For admission regarding query:</a:t>
            </a:r>
            <a:br>
              <a:rPr lang="en-IN" dirty="0"/>
            </a:br>
            <a:r>
              <a:rPr lang="en-IN" dirty="0">
                <a:hlinkClick r:id="rId3"/>
              </a:rPr>
              <a:t>+91-7096979952</a:t>
            </a:r>
            <a:r>
              <a:rPr lang="en-IN" dirty="0"/>
              <a:t>, </a:t>
            </a:r>
            <a:r>
              <a:rPr lang="en-IN" dirty="0">
                <a:hlinkClick r:id="rId4"/>
              </a:rPr>
              <a:t>+91-7096979962</a:t>
            </a:r>
            <a:endParaRPr lang="en-IN" dirty="0"/>
          </a:p>
          <a:p>
            <a:pPr marL="0" indent="0">
              <a:buNone/>
            </a:pPr>
            <a:endParaRPr lang="en-IN" dirty="0"/>
          </a:p>
        </p:txBody>
      </p:sp>
      <p:pic>
        <p:nvPicPr>
          <p:cNvPr id="5" name="Picture 4">
            <a:extLst>
              <a:ext uri="{FF2B5EF4-FFF2-40B4-BE49-F238E27FC236}">
                <a16:creationId xmlns:a16="http://schemas.microsoft.com/office/drawing/2014/main" id="{48BBC345-EF2C-5A6E-1AFA-90FB11E88C06}"/>
              </a:ext>
            </a:extLst>
          </p:cNvPr>
          <p:cNvPicPr>
            <a:picLocks noChangeAspect="1"/>
          </p:cNvPicPr>
          <p:nvPr/>
        </p:nvPicPr>
        <p:blipFill>
          <a:blip r:embed="rId5"/>
          <a:stretch>
            <a:fillRect/>
          </a:stretch>
        </p:blipFill>
        <p:spPr>
          <a:xfrm>
            <a:off x="1371601" y="3522576"/>
            <a:ext cx="8202168" cy="2992683"/>
          </a:xfrm>
          <a:prstGeom prst="rect">
            <a:avLst/>
          </a:prstGeom>
        </p:spPr>
      </p:pic>
    </p:spTree>
    <p:extLst>
      <p:ext uri="{BB962C8B-B14F-4D97-AF65-F5344CB8AC3E}">
        <p14:creationId xmlns:p14="http://schemas.microsoft.com/office/powerpoint/2010/main" val="303863110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8B603-06A9-6DAD-0559-7B344B51C6D1}"/>
              </a:ext>
            </a:extLst>
          </p:cNvPr>
          <p:cNvSpPr>
            <a:spLocks noGrp="1"/>
          </p:cNvSpPr>
          <p:nvPr>
            <p:ph type="title"/>
          </p:nvPr>
        </p:nvSpPr>
        <p:spPr>
          <a:xfrm>
            <a:off x="1295400" y="484632"/>
            <a:ext cx="9601200" cy="786384"/>
          </a:xfrm>
        </p:spPr>
        <p:txBody>
          <a:bodyPr/>
          <a:lstStyle/>
          <a:p>
            <a:r>
              <a:rPr lang="en-US" dirty="0"/>
              <a:t>Why Darshan University ?</a:t>
            </a:r>
            <a:endParaRPr lang="en-IN" dirty="0"/>
          </a:p>
        </p:txBody>
      </p:sp>
      <p:sp>
        <p:nvSpPr>
          <p:cNvPr id="3" name="Content Placeholder 2">
            <a:extLst>
              <a:ext uri="{FF2B5EF4-FFF2-40B4-BE49-F238E27FC236}">
                <a16:creationId xmlns:a16="http://schemas.microsoft.com/office/drawing/2014/main" id="{2E3FBB60-053B-4BFC-C97D-5D084C65F222}"/>
              </a:ext>
            </a:extLst>
          </p:cNvPr>
          <p:cNvSpPr>
            <a:spLocks noGrp="1"/>
          </p:cNvSpPr>
          <p:nvPr>
            <p:ph idx="1"/>
          </p:nvPr>
        </p:nvSpPr>
        <p:spPr>
          <a:xfrm>
            <a:off x="1295400" y="1435608"/>
            <a:ext cx="9601200" cy="4782312"/>
          </a:xfrm>
        </p:spPr>
        <p:txBody>
          <a:bodyPr>
            <a:normAutofit/>
          </a:bodyPr>
          <a:lstStyle/>
          <a:p>
            <a:r>
              <a:rPr lang="en-IN" b="1" dirty="0"/>
              <a:t>Academic Staff : </a:t>
            </a:r>
            <a:r>
              <a:rPr lang="en-IN" dirty="0"/>
              <a:t>Well-Qualified, Experienced, Industry Linked and Dedicated Academic Staff.</a:t>
            </a:r>
          </a:p>
          <a:p>
            <a:r>
              <a:rPr lang="en-IN" b="1" dirty="0"/>
              <a:t>Project-based Learning : </a:t>
            </a:r>
            <a:r>
              <a:rPr lang="en-IN" dirty="0"/>
              <a:t>Extensive student-corporate interaction through internships and projects.</a:t>
            </a:r>
          </a:p>
          <a:p>
            <a:r>
              <a:rPr lang="en-IN" b="1" dirty="0"/>
              <a:t>Seminars/Workshops : </a:t>
            </a:r>
            <a:r>
              <a:rPr lang="en-IN" dirty="0"/>
              <a:t>Exposure to cutting-edge technologies through seminars and workshops.</a:t>
            </a:r>
          </a:p>
          <a:p>
            <a:r>
              <a:rPr lang="en-IN" b="1" dirty="0"/>
              <a:t>State-of-the-art Laboratories : </a:t>
            </a:r>
            <a:r>
              <a:rPr lang="en-IN" dirty="0"/>
              <a:t>Continuous upgradation of laboratories to meet the dynamic industry demands.</a:t>
            </a:r>
          </a:p>
          <a:p>
            <a:r>
              <a:rPr lang="en-IN" b="1" dirty="0"/>
              <a:t>Academics Monitoring : </a:t>
            </a:r>
            <a:r>
              <a:rPr lang="en-IN" dirty="0"/>
              <a:t>Continuous assessment of each &amp; every student’s progress.</a:t>
            </a:r>
          </a:p>
          <a:p>
            <a:r>
              <a:rPr lang="en-IN" b="1" dirty="0"/>
              <a:t>Placement : </a:t>
            </a:r>
            <a:r>
              <a:rPr lang="en-IN" dirty="0"/>
              <a:t>Well networked with 1000+ industries and excellent placement track record.</a:t>
            </a:r>
          </a:p>
          <a:p>
            <a:r>
              <a:rPr lang="en-IN" dirty="0"/>
              <a:t>And Many More …</a:t>
            </a:r>
          </a:p>
        </p:txBody>
      </p:sp>
    </p:spTree>
    <p:extLst>
      <p:ext uri="{BB962C8B-B14F-4D97-AF65-F5344CB8AC3E}">
        <p14:creationId xmlns:p14="http://schemas.microsoft.com/office/powerpoint/2010/main" val="47124146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78E65-574C-425D-7AAE-B98669755FAC}"/>
              </a:ext>
            </a:extLst>
          </p:cNvPr>
          <p:cNvSpPr>
            <a:spLocks noGrp="1"/>
          </p:cNvSpPr>
          <p:nvPr>
            <p:ph type="title"/>
          </p:nvPr>
        </p:nvSpPr>
        <p:spPr>
          <a:xfrm>
            <a:off x="1371600" y="320040"/>
            <a:ext cx="9601200" cy="758952"/>
          </a:xfrm>
        </p:spPr>
        <p:txBody>
          <a:bodyPr/>
          <a:lstStyle/>
          <a:p>
            <a:r>
              <a:rPr lang="en-IN" dirty="0"/>
              <a:t>Government Scholarships</a:t>
            </a:r>
          </a:p>
        </p:txBody>
      </p:sp>
      <p:sp>
        <p:nvSpPr>
          <p:cNvPr id="3" name="Content Placeholder 2">
            <a:extLst>
              <a:ext uri="{FF2B5EF4-FFF2-40B4-BE49-F238E27FC236}">
                <a16:creationId xmlns:a16="http://schemas.microsoft.com/office/drawing/2014/main" id="{22351464-6EF0-9A39-EB9C-6CE0E55E210A}"/>
              </a:ext>
            </a:extLst>
          </p:cNvPr>
          <p:cNvSpPr>
            <a:spLocks noGrp="1"/>
          </p:cNvSpPr>
          <p:nvPr>
            <p:ph idx="1"/>
          </p:nvPr>
        </p:nvSpPr>
        <p:spPr>
          <a:xfrm>
            <a:off x="1371600" y="1225296"/>
            <a:ext cx="9601200" cy="4788408"/>
          </a:xfrm>
        </p:spPr>
        <p:txBody>
          <a:bodyPr>
            <a:normAutofit/>
          </a:bodyPr>
          <a:lstStyle/>
          <a:p>
            <a:pPr marL="0" indent="0">
              <a:buNone/>
            </a:pPr>
            <a:r>
              <a:rPr lang="en-IN" b="1" dirty="0"/>
              <a:t>[1]   </a:t>
            </a:r>
            <a:r>
              <a:rPr lang="en-IN" b="1" dirty="0">
                <a:hlinkClick r:id="rId2" tooltip="Mukhyamantri Yuva Swalamban Yojana"/>
              </a:rPr>
              <a:t>MYSY (</a:t>
            </a:r>
            <a:r>
              <a:rPr lang="en-IN" b="1" dirty="0" err="1">
                <a:hlinkClick r:id="rId2" tooltip="Mukhyamantri Yuva Swalamban Yojana"/>
              </a:rPr>
              <a:t>Mukhyamantri</a:t>
            </a:r>
            <a:r>
              <a:rPr lang="en-IN" b="1" dirty="0">
                <a:hlinkClick r:id="rId2" tooltip="Mukhyamantri Yuva Swalamban Yojana"/>
              </a:rPr>
              <a:t> Yuva </a:t>
            </a:r>
            <a:r>
              <a:rPr lang="en-IN" b="1" dirty="0" err="1">
                <a:hlinkClick r:id="rId2" tooltip="Mukhyamantri Yuva Swalamban Yojana"/>
              </a:rPr>
              <a:t>Swalamban</a:t>
            </a:r>
            <a:r>
              <a:rPr lang="en-IN" b="1" dirty="0">
                <a:hlinkClick r:id="rId2" tooltip="Mukhyamantri Yuva Swalamban Yojana"/>
              </a:rPr>
              <a:t> Yojana)</a:t>
            </a:r>
            <a:r>
              <a:rPr lang="en-IN" b="1" dirty="0"/>
              <a:t> </a:t>
            </a:r>
          </a:p>
          <a:p>
            <a:pPr marL="0" lvl="0" indent="0">
              <a:buNone/>
            </a:pPr>
            <a:r>
              <a:rPr lang="en-IN" b="1" dirty="0"/>
              <a:t>Eligibility: </a:t>
            </a:r>
            <a:r>
              <a:rPr lang="en-IN" dirty="0"/>
              <a:t>Student must have secured 80 or more Percentile in 10</a:t>
            </a:r>
            <a:r>
              <a:rPr lang="en-IN" sz="800" baseline="30000" dirty="0"/>
              <a:t>th</a:t>
            </a:r>
            <a:r>
              <a:rPr lang="en-IN" dirty="0"/>
              <a:t> / 12</a:t>
            </a:r>
            <a:r>
              <a:rPr lang="en-IN" sz="800" baseline="30000" dirty="0"/>
              <a:t>th</a:t>
            </a:r>
            <a:r>
              <a:rPr lang="en-IN" dirty="0"/>
              <a:t> exam and family income must be less than Rs. 6 lakh/annum.</a:t>
            </a:r>
          </a:p>
          <a:p>
            <a:pPr marL="0" lvl="0" indent="0">
              <a:buNone/>
            </a:pPr>
            <a:r>
              <a:rPr lang="en-IN" b="1" dirty="0"/>
              <a:t>Amount of Scholarship:</a:t>
            </a:r>
            <a:endParaRPr lang="en-IN" dirty="0"/>
          </a:p>
          <a:p>
            <a:pPr marL="530352" lvl="1" indent="0">
              <a:buNone/>
            </a:pPr>
            <a:r>
              <a:rPr lang="en-IN" b="1" i="0" dirty="0"/>
              <a:t>For Degree Engineering:</a:t>
            </a:r>
            <a:r>
              <a:rPr lang="en-IN" i="0" dirty="0"/>
              <a:t> Rs. 50,000/- or 50% of tuition fees whichever is less.</a:t>
            </a:r>
          </a:p>
          <a:p>
            <a:pPr marL="530352" lvl="1" indent="0">
              <a:buNone/>
            </a:pPr>
            <a:r>
              <a:rPr lang="en-IN" b="1" i="0" dirty="0"/>
              <a:t>For Diploma Engineering:</a:t>
            </a:r>
            <a:r>
              <a:rPr lang="en-IN" i="0" dirty="0"/>
              <a:t> Rs. 25,000/- or 50% of tuition fees whichever is less.</a:t>
            </a:r>
          </a:p>
          <a:p>
            <a:pPr marL="530352" lvl="1" indent="0">
              <a:buNone/>
            </a:pPr>
            <a:r>
              <a:rPr lang="en-IN" b="1" i="0" dirty="0"/>
              <a:t>For </a:t>
            </a:r>
            <a:r>
              <a:rPr lang="en-IN" b="1" i="0" dirty="0" err="1"/>
              <a:t>B.Com</a:t>
            </a:r>
            <a:r>
              <a:rPr lang="en-IN" b="1" i="0" dirty="0"/>
              <a:t>./BBA/BCA/B.Sc.:</a:t>
            </a:r>
            <a:r>
              <a:rPr lang="en-IN" i="0" dirty="0"/>
              <a:t> Up to Rs. 10,000/- or 50% of tuition fees whichever is less.</a:t>
            </a:r>
          </a:p>
          <a:p>
            <a:pPr marL="0" indent="0">
              <a:buNone/>
            </a:pPr>
            <a:r>
              <a:rPr lang="en-IN" b="1" dirty="0"/>
              <a:t>[2]   </a:t>
            </a:r>
            <a:r>
              <a:rPr lang="en-IN" b="1" dirty="0">
                <a:hlinkClick r:id="rId3" tooltip="Scholarships for Scheduled Caste Candidates"/>
              </a:rPr>
              <a:t>Scholarships for SC/ST Students</a:t>
            </a:r>
            <a:r>
              <a:rPr lang="en-IN" b="1" dirty="0"/>
              <a:t> </a:t>
            </a:r>
          </a:p>
          <a:p>
            <a:pPr marL="0" lvl="0" indent="0">
              <a:buNone/>
            </a:pPr>
            <a:r>
              <a:rPr lang="en-IN" b="1" dirty="0"/>
              <a:t>Eligibility: </a:t>
            </a:r>
            <a:r>
              <a:rPr lang="en-IN" dirty="0"/>
              <a:t>Student must belong to SC or ST category and family income must be less than Rs. 2,50,000/annum.</a:t>
            </a:r>
          </a:p>
          <a:p>
            <a:pPr marL="0" lvl="0" indent="0">
              <a:buNone/>
            </a:pPr>
            <a:r>
              <a:rPr lang="en-IN" b="1" dirty="0"/>
              <a:t>Amount of Scholarship:</a:t>
            </a:r>
            <a:r>
              <a:rPr lang="en-IN" dirty="0"/>
              <a:t> Approximately 100% of tuition fees as per Government norms.</a:t>
            </a:r>
          </a:p>
        </p:txBody>
      </p:sp>
    </p:spTree>
    <p:extLst>
      <p:ext uri="{BB962C8B-B14F-4D97-AF65-F5344CB8AC3E}">
        <p14:creationId xmlns:p14="http://schemas.microsoft.com/office/powerpoint/2010/main" val="3529888513"/>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additive="base">
                                        <p:cTn id="3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01E053CD-1328-65EC-6BEF-0E9A70FA286E}"/>
              </a:ext>
            </a:extLst>
          </p:cNvPr>
          <p:cNvGraphicFramePr/>
          <p:nvPr>
            <p:extLst>
              <p:ext uri="{D42A27DB-BD31-4B8C-83A1-F6EECF244321}">
                <p14:modId xmlns:p14="http://schemas.microsoft.com/office/powerpoint/2010/main" val="272153294"/>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2281235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AA3F16BC-7213-EADC-E877-C7AAEE4063D6}"/>
              </a:ext>
            </a:extLst>
          </p:cNvPr>
          <p:cNvGraphicFramePr/>
          <p:nvPr>
            <p:extLst>
              <p:ext uri="{D42A27DB-BD31-4B8C-83A1-F6EECF244321}">
                <p14:modId xmlns:p14="http://schemas.microsoft.com/office/powerpoint/2010/main" val="3049297542"/>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7669637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ACFB-6170-54F4-C723-9D54FE90DDA9}"/>
              </a:ext>
            </a:extLst>
          </p:cNvPr>
          <p:cNvSpPr>
            <a:spLocks noGrp="1"/>
          </p:cNvSpPr>
          <p:nvPr>
            <p:ph type="title"/>
          </p:nvPr>
        </p:nvSpPr>
        <p:spPr>
          <a:xfrm>
            <a:off x="1295400" y="231648"/>
            <a:ext cx="9601200" cy="758952"/>
          </a:xfrm>
        </p:spPr>
        <p:txBody>
          <a:bodyPr/>
          <a:lstStyle/>
          <a:p>
            <a:r>
              <a:rPr lang="en-US" dirty="0"/>
              <a:t>Placement Summary (2025)</a:t>
            </a:r>
            <a:endParaRPr lang="en-IN" dirty="0"/>
          </a:p>
        </p:txBody>
      </p:sp>
      <p:pic>
        <p:nvPicPr>
          <p:cNvPr id="5" name="Content Placeholder 4">
            <a:extLst>
              <a:ext uri="{FF2B5EF4-FFF2-40B4-BE49-F238E27FC236}">
                <a16:creationId xmlns:a16="http://schemas.microsoft.com/office/drawing/2014/main" id="{F818BC4B-888F-7459-079F-DCF13E62D30B}"/>
              </a:ext>
            </a:extLst>
          </p:cNvPr>
          <p:cNvPicPr>
            <a:picLocks noGrp="1" noChangeAspect="1"/>
          </p:cNvPicPr>
          <p:nvPr>
            <p:ph idx="1"/>
          </p:nvPr>
        </p:nvPicPr>
        <p:blipFill>
          <a:blip r:embed="rId2"/>
          <a:stretch>
            <a:fillRect/>
          </a:stretch>
        </p:blipFill>
        <p:spPr>
          <a:xfrm>
            <a:off x="1295400" y="990600"/>
            <a:ext cx="8464985" cy="2444876"/>
          </a:xfrm>
          <a:prstGeom prst="rect">
            <a:avLst/>
          </a:prstGeom>
        </p:spPr>
      </p:pic>
      <p:sp>
        <p:nvSpPr>
          <p:cNvPr id="11" name="TextBox 10">
            <a:extLst>
              <a:ext uri="{FF2B5EF4-FFF2-40B4-BE49-F238E27FC236}">
                <a16:creationId xmlns:a16="http://schemas.microsoft.com/office/drawing/2014/main" id="{A3331E0B-D6F8-49AD-31E6-EE37BEB2EF5B}"/>
              </a:ext>
            </a:extLst>
          </p:cNvPr>
          <p:cNvSpPr txBox="1"/>
          <p:nvPr/>
        </p:nvSpPr>
        <p:spPr>
          <a:xfrm>
            <a:off x="1295400" y="3610996"/>
            <a:ext cx="6094476" cy="523220"/>
          </a:xfrm>
          <a:prstGeom prst="rect">
            <a:avLst/>
          </a:prstGeom>
          <a:noFill/>
        </p:spPr>
        <p:txBody>
          <a:bodyPr wrap="square">
            <a:spAutoFit/>
          </a:bodyPr>
          <a:lstStyle/>
          <a:p>
            <a:r>
              <a:rPr lang="en-IN" sz="2800" b="1" i="0" dirty="0">
                <a:solidFill>
                  <a:schemeClr val="tx1"/>
                </a:solidFill>
                <a:effectLst/>
                <a:latin typeface="+mn-lt"/>
              </a:rPr>
              <a:t>Branch wise Summary</a:t>
            </a:r>
            <a:endParaRPr lang="en-IN" sz="2800" dirty="0"/>
          </a:p>
        </p:txBody>
      </p:sp>
      <p:graphicFrame>
        <p:nvGraphicFramePr>
          <p:cNvPr id="13" name="Table 12">
            <a:extLst>
              <a:ext uri="{FF2B5EF4-FFF2-40B4-BE49-F238E27FC236}">
                <a16:creationId xmlns:a16="http://schemas.microsoft.com/office/drawing/2014/main" id="{472A10A1-5FC9-6921-6F47-9E27C8B16F97}"/>
              </a:ext>
            </a:extLst>
          </p:cNvPr>
          <p:cNvGraphicFramePr>
            <a:graphicFrameLocks noGrp="1"/>
          </p:cNvGraphicFramePr>
          <p:nvPr>
            <p:extLst>
              <p:ext uri="{D42A27DB-BD31-4B8C-83A1-F6EECF244321}">
                <p14:modId xmlns:p14="http://schemas.microsoft.com/office/powerpoint/2010/main" val="873567770"/>
              </p:ext>
            </p:extLst>
          </p:nvPr>
        </p:nvGraphicFramePr>
        <p:xfrm>
          <a:off x="1295400" y="4194428"/>
          <a:ext cx="10418064" cy="2297812"/>
        </p:xfrm>
        <a:graphic>
          <a:graphicData uri="http://schemas.openxmlformats.org/drawingml/2006/table">
            <a:tbl>
              <a:tblPr>
                <a:tableStyleId>{5C22544A-7EE6-4342-B048-85BDC9FD1C3A}</a:tableStyleId>
              </a:tblPr>
              <a:tblGrid>
                <a:gridCol w="1302258">
                  <a:extLst>
                    <a:ext uri="{9D8B030D-6E8A-4147-A177-3AD203B41FA5}">
                      <a16:colId xmlns:a16="http://schemas.microsoft.com/office/drawing/2014/main" val="3329388282"/>
                    </a:ext>
                  </a:extLst>
                </a:gridCol>
                <a:gridCol w="1302258">
                  <a:extLst>
                    <a:ext uri="{9D8B030D-6E8A-4147-A177-3AD203B41FA5}">
                      <a16:colId xmlns:a16="http://schemas.microsoft.com/office/drawing/2014/main" val="900791730"/>
                    </a:ext>
                  </a:extLst>
                </a:gridCol>
                <a:gridCol w="1302258">
                  <a:extLst>
                    <a:ext uri="{9D8B030D-6E8A-4147-A177-3AD203B41FA5}">
                      <a16:colId xmlns:a16="http://schemas.microsoft.com/office/drawing/2014/main" val="3240147418"/>
                    </a:ext>
                  </a:extLst>
                </a:gridCol>
                <a:gridCol w="1302258">
                  <a:extLst>
                    <a:ext uri="{9D8B030D-6E8A-4147-A177-3AD203B41FA5}">
                      <a16:colId xmlns:a16="http://schemas.microsoft.com/office/drawing/2014/main" val="3336691050"/>
                    </a:ext>
                  </a:extLst>
                </a:gridCol>
                <a:gridCol w="1302258">
                  <a:extLst>
                    <a:ext uri="{9D8B030D-6E8A-4147-A177-3AD203B41FA5}">
                      <a16:colId xmlns:a16="http://schemas.microsoft.com/office/drawing/2014/main" val="648301509"/>
                    </a:ext>
                  </a:extLst>
                </a:gridCol>
                <a:gridCol w="1302258">
                  <a:extLst>
                    <a:ext uri="{9D8B030D-6E8A-4147-A177-3AD203B41FA5}">
                      <a16:colId xmlns:a16="http://schemas.microsoft.com/office/drawing/2014/main" val="795166185"/>
                    </a:ext>
                  </a:extLst>
                </a:gridCol>
                <a:gridCol w="1302258">
                  <a:extLst>
                    <a:ext uri="{9D8B030D-6E8A-4147-A177-3AD203B41FA5}">
                      <a16:colId xmlns:a16="http://schemas.microsoft.com/office/drawing/2014/main" val="1719140362"/>
                    </a:ext>
                  </a:extLst>
                </a:gridCol>
                <a:gridCol w="1302258">
                  <a:extLst>
                    <a:ext uri="{9D8B030D-6E8A-4147-A177-3AD203B41FA5}">
                      <a16:colId xmlns:a16="http://schemas.microsoft.com/office/drawing/2014/main" val="2927090514"/>
                    </a:ext>
                  </a:extLst>
                </a:gridCol>
              </a:tblGrid>
              <a:tr h="517008">
                <a:tc>
                  <a:txBody>
                    <a:bodyPr/>
                    <a:lstStyle/>
                    <a:p>
                      <a:pPr algn="ctr" fontAlgn="b">
                        <a:buNone/>
                      </a:pPr>
                      <a:r>
                        <a:rPr lang="en-IN" sz="1050">
                          <a:effectLst/>
                        </a:rPr>
                        <a:t>#</a:t>
                      </a:r>
                      <a:endParaRPr lang="en-IN" sz="1050" b="0" i="0">
                        <a:solidFill>
                          <a:srgbClr val="212529"/>
                        </a:solidFill>
                        <a:effectLst/>
                        <a:latin typeface="Segoe UI" panose="020B0502040204020203" pitchFamily="34" charset="0"/>
                      </a:endParaRPr>
                    </a:p>
                  </a:txBody>
                  <a:tcPr anchor="b"/>
                </a:tc>
                <a:tc>
                  <a:txBody>
                    <a:bodyPr/>
                    <a:lstStyle/>
                    <a:p>
                      <a:pPr algn="l" fontAlgn="b">
                        <a:buNone/>
                      </a:pPr>
                      <a:r>
                        <a:rPr lang="en-IN" sz="1050">
                          <a:effectLst/>
                        </a:rPr>
                        <a:t>Program</a:t>
                      </a:r>
                      <a:endParaRPr lang="en-IN" sz="1050" b="0" i="0">
                        <a:solidFill>
                          <a:srgbClr val="212529"/>
                        </a:solidFill>
                        <a:effectLst/>
                        <a:latin typeface="Segoe UI" panose="020B0502040204020203" pitchFamily="34" charset="0"/>
                      </a:endParaRPr>
                    </a:p>
                  </a:txBody>
                  <a:tcPr anchor="b"/>
                </a:tc>
                <a:tc>
                  <a:txBody>
                    <a:bodyPr/>
                    <a:lstStyle/>
                    <a:p>
                      <a:pPr algn="r" fontAlgn="b">
                        <a:buNone/>
                      </a:pPr>
                      <a:r>
                        <a:rPr lang="en-IN" sz="1050">
                          <a:effectLst/>
                        </a:rPr>
                        <a:t>Registered Students</a:t>
                      </a:r>
                      <a:endParaRPr lang="en-IN" sz="1050" b="0" i="0">
                        <a:solidFill>
                          <a:srgbClr val="212529"/>
                        </a:solidFill>
                        <a:effectLst/>
                        <a:latin typeface="Segoe UI" panose="020B0502040204020203" pitchFamily="34" charset="0"/>
                      </a:endParaRPr>
                    </a:p>
                  </a:txBody>
                  <a:tcPr anchor="b"/>
                </a:tc>
                <a:tc>
                  <a:txBody>
                    <a:bodyPr/>
                    <a:lstStyle/>
                    <a:p>
                      <a:pPr algn="r" fontAlgn="b">
                        <a:buNone/>
                      </a:pPr>
                      <a:r>
                        <a:rPr lang="en-IN" sz="1050">
                          <a:effectLst/>
                        </a:rPr>
                        <a:t>Placed Students</a:t>
                      </a:r>
                      <a:endParaRPr lang="en-IN" sz="1050" b="0" i="0">
                        <a:solidFill>
                          <a:srgbClr val="212529"/>
                        </a:solidFill>
                        <a:effectLst/>
                        <a:latin typeface="Segoe UI" panose="020B0502040204020203" pitchFamily="34" charset="0"/>
                      </a:endParaRPr>
                    </a:p>
                  </a:txBody>
                  <a:tcPr anchor="b"/>
                </a:tc>
                <a:tc>
                  <a:txBody>
                    <a:bodyPr/>
                    <a:lstStyle/>
                    <a:p>
                      <a:pPr algn="r" fontAlgn="b">
                        <a:buNone/>
                      </a:pPr>
                      <a:r>
                        <a:rPr lang="en-IN" sz="1050">
                          <a:effectLst/>
                        </a:rPr>
                        <a:t>Placed %</a:t>
                      </a:r>
                      <a:endParaRPr lang="en-IN" sz="1050" b="0" i="0">
                        <a:solidFill>
                          <a:srgbClr val="212529"/>
                        </a:solidFill>
                        <a:effectLst/>
                        <a:latin typeface="Segoe UI" panose="020B0502040204020203" pitchFamily="34" charset="0"/>
                      </a:endParaRPr>
                    </a:p>
                  </a:txBody>
                  <a:tcPr anchor="b"/>
                </a:tc>
                <a:tc>
                  <a:txBody>
                    <a:bodyPr/>
                    <a:lstStyle/>
                    <a:p>
                      <a:pPr algn="r" fontAlgn="b">
                        <a:buNone/>
                      </a:pPr>
                      <a:r>
                        <a:rPr lang="en-IN" sz="1050">
                          <a:effectLst/>
                        </a:rPr>
                        <a:t>Companies Visited</a:t>
                      </a:r>
                      <a:endParaRPr lang="en-IN" sz="1050" b="0" i="0">
                        <a:solidFill>
                          <a:srgbClr val="212529"/>
                        </a:solidFill>
                        <a:effectLst/>
                        <a:latin typeface="Segoe UI" panose="020B0502040204020203" pitchFamily="34" charset="0"/>
                      </a:endParaRPr>
                    </a:p>
                  </a:txBody>
                  <a:tcPr anchor="b"/>
                </a:tc>
                <a:tc>
                  <a:txBody>
                    <a:bodyPr/>
                    <a:lstStyle/>
                    <a:p>
                      <a:pPr algn="r" fontAlgn="b">
                        <a:buNone/>
                      </a:pPr>
                      <a:r>
                        <a:rPr lang="en-IN" sz="1050">
                          <a:effectLst/>
                        </a:rPr>
                        <a:t>Highest Package</a:t>
                      </a:r>
                      <a:endParaRPr lang="en-IN" sz="1050" b="0" i="0">
                        <a:solidFill>
                          <a:srgbClr val="212529"/>
                        </a:solidFill>
                        <a:effectLst/>
                        <a:latin typeface="Segoe UI" panose="020B0502040204020203" pitchFamily="34" charset="0"/>
                      </a:endParaRPr>
                    </a:p>
                  </a:txBody>
                  <a:tcPr anchor="b"/>
                </a:tc>
                <a:tc>
                  <a:txBody>
                    <a:bodyPr/>
                    <a:lstStyle/>
                    <a:p>
                      <a:pPr algn="r" fontAlgn="b">
                        <a:buNone/>
                      </a:pPr>
                      <a:r>
                        <a:rPr lang="en-IN" sz="1050">
                          <a:effectLst/>
                        </a:rPr>
                        <a:t>Average Package</a:t>
                      </a:r>
                      <a:endParaRPr lang="en-IN" sz="1050" b="0" i="0">
                        <a:solidFill>
                          <a:srgbClr val="212529"/>
                        </a:solidFill>
                        <a:effectLst/>
                        <a:latin typeface="Segoe UI" panose="020B0502040204020203" pitchFamily="34" charset="0"/>
                      </a:endParaRPr>
                    </a:p>
                  </a:txBody>
                  <a:tcPr anchor="b"/>
                </a:tc>
                <a:extLst>
                  <a:ext uri="{0D108BD9-81ED-4DB2-BD59-A6C34878D82A}">
                    <a16:rowId xmlns:a16="http://schemas.microsoft.com/office/drawing/2014/main" val="3177131854"/>
                  </a:ext>
                </a:extLst>
              </a:tr>
              <a:tr h="315949">
                <a:tc>
                  <a:txBody>
                    <a:bodyPr/>
                    <a:lstStyle/>
                    <a:p>
                      <a:pPr algn="ctr" fontAlgn="t">
                        <a:buNone/>
                      </a:pPr>
                      <a:r>
                        <a:rPr lang="en-IN" sz="1050">
                          <a:effectLst/>
                        </a:rPr>
                        <a:t>1</a:t>
                      </a:r>
                      <a:endParaRPr lang="en-IN" sz="1050" b="0" i="0">
                        <a:solidFill>
                          <a:srgbClr val="212529"/>
                        </a:solidFill>
                        <a:effectLst/>
                        <a:latin typeface="Segoe UI" panose="020B0502040204020203" pitchFamily="34" charset="0"/>
                      </a:endParaRPr>
                    </a:p>
                  </a:txBody>
                  <a:tcPr/>
                </a:tc>
                <a:tc>
                  <a:txBody>
                    <a:bodyPr/>
                    <a:lstStyle/>
                    <a:p>
                      <a:pPr algn="l" fontAlgn="t">
                        <a:buNone/>
                      </a:pPr>
                      <a:r>
                        <a:rPr lang="en-IN" sz="1050" u="none" strike="noStrike" dirty="0">
                          <a:effectLst/>
                          <a:hlinkClick r:id="rId3"/>
                        </a:rPr>
                        <a:t>B.Tech. (CSE) </a:t>
                      </a:r>
                      <a:r>
                        <a:rPr lang="en-IN" sz="1050" dirty="0">
                          <a:effectLst/>
                        </a:rPr>
                        <a:t> </a:t>
                      </a:r>
                      <a:endParaRPr lang="en-IN" sz="1050" b="0" i="0" dirty="0">
                        <a:solidFill>
                          <a:srgbClr val="212529"/>
                        </a:solidFill>
                        <a:effectLst/>
                        <a:latin typeface="Segoe UI" panose="020B0502040204020203" pitchFamily="34" charset="0"/>
                      </a:endParaRPr>
                    </a:p>
                  </a:txBody>
                  <a:tcPr/>
                </a:tc>
                <a:tc>
                  <a:txBody>
                    <a:bodyPr/>
                    <a:lstStyle/>
                    <a:p>
                      <a:pPr algn="r" fontAlgn="t">
                        <a:buNone/>
                      </a:pPr>
                      <a:r>
                        <a:rPr lang="en-IN" sz="1050">
                          <a:effectLst/>
                        </a:rPr>
                        <a:t>172</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161</a:t>
                      </a:r>
                      <a:endParaRPr lang="en-IN" sz="1050" b="1" i="0">
                        <a:solidFill>
                          <a:srgbClr val="D61B3C"/>
                        </a:solidFill>
                        <a:effectLst/>
                        <a:latin typeface="Segoe UI" panose="020B0502040204020203" pitchFamily="34" charset="0"/>
                      </a:endParaRPr>
                    </a:p>
                  </a:txBody>
                  <a:tcPr/>
                </a:tc>
                <a:tc>
                  <a:txBody>
                    <a:bodyPr/>
                    <a:lstStyle/>
                    <a:p>
                      <a:pPr algn="r" fontAlgn="t">
                        <a:buNone/>
                      </a:pPr>
                      <a:r>
                        <a:rPr lang="en-IN" sz="1050">
                          <a:effectLst/>
                        </a:rPr>
                        <a:t>93.60 %</a:t>
                      </a:r>
                      <a:endParaRPr lang="en-IN" sz="1050" b="1" i="0">
                        <a:solidFill>
                          <a:srgbClr val="212529"/>
                        </a:solidFill>
                        <a:effectLst/>
                        <a:latin typeface="Segoe UI" panose="020B0502040204020203" pitchFamily="34" charset="0"/>
                      </a:endParaRPr>
                    </a:p>
                  </a:txBody>
                  <a:tcPr/>
                </a:tc>
                <a:tc>
                  <a:txBody>
                    <a:bodyPr/>
                    <a:lstStyle/>
                    <a:p>
                      <a:pPr algn="r" fontAlgn="t">
                        <a:buNone/>
                      </a:pPr>
                      <a:r>
                        <a:rPr lang="en-IN" sz="1050">
                          <a:effectLst/>
                        </a:rPr>
                        <a:t>81</a:t>
                      </a:r>
                      <a:endParaRPr lang="en-IN" sz="1050" b="0" i="0">
                        <a:solidFill>
                          <a:srgbClr val="E64B3B"/>
                        </a:solidFill>
                        <a:effectLst/>
                        <a:latin typeface="Segoe UI" panose="020B0502040204020203" pitchFamily="34" charset="0"/>
                      </a:endParaRPr>
                    </a:p>
                  </a:txBody>
                  <a:tcPr/>
                </a:tc>
                <a:tc>
                  <a:txBody>
                    <a:bodyPr/>
                    <a:lstStyle/>
                    <a:p>
                      <a:pPr algn="r" fontAlgn="t">
                        <a:buNone/>
                      </a:pPr>
                      <a:r>
                        <a:rPr lang="en-IN" sz="1050">
                          <a:effectLst/>
                        </a:rPr>
                        <a:t>7.00 LPA</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3.78 LPA</a:t>
                      </a:r>
                      <a:endParaRPr lang="en-IN" sz="1050" b="0" i="0">
                        <a:solidFill>
                          <a:srgbClr val="212529"/>
                        </a:solidFill>
                        <a:effectLst/>
                        <a:latin typeface="Segoe UI" panose="020B0502040204020203" pitchFamily="34" charset="0"/>
                      </a:endParaRPr>
                    </a:p>
                  </a:txBody>
                  <a:tcPr/>
                </a:tc>
                <a:extLst>
                  <a:ext uri="{0D108BD9-81ED-4DB2-BD59-A6C34878D82A}">
                    <a16:rowId xmlns:a16="http://schemas.microsoft.com/office/drawing/2014/main" val="2835964908"/>
                  </a:ext>
                </a:extLst>
              </a:tr>
              <a:tr h="315949">
                <a:tc>
                  <a:txBody>
                    <a:bodyPr/>
                    <a:lstStyle/>
                    <a:p>
                      <a:pPr algn="ctr" fontAlgn="t">
                        <a:buNone/>
                      </a:pPr>
                      <a:r>
                        <a:rPr lang="en-IN" sz="1050">
                          <a:effectLst/>
                        </a:rPr>
                        <a:t>2</a:t>
                      </a:r>
                      <a:endParaRPr lang="en-IN" sz="1050" b="0" i="0">
                        <a:solidFill>
                          <a:srgbClr val="212529"/>
                        </a:solidFill>
                        <a:effectLst/>
                        <a:latin typeface="Segoe UI" panose="020B0502040204020203" pitchFamily="34" charset="0"/>
                      </a:endParaRPr>
                    </a:p>
                  </a:txBody>
                  <a:tcPr/>
                </a:tc>
                <a:tc>
                  <a:txBody>
                    <a:bodyPr/>
                    <a:lstStyle/>
                    <a:p>
                      <a:pPr algn="l" fontAlgn="t">
                        <a:buNone/>
                      </a:pPr>
                      <a:r>
                        <a:rPr lang="en-IN" sz="1050" u="none" strike="noStrike">
                          <a:effectLst/>
                          <a:hlinkClick r:id="rId4"/>
                        </a:rPr>
                        <a:t>B.Tech. (Civil) </a:t>
                      </a:r>
                      <a:r>
                        <a:rPr lang="en-IN" sz="1050">
                          <a:effectLst/>
                        </a:rPr>
                        <a:t> </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12</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12</a:t>
                      </a:r>
                      <a:endParaRPr lang="en-IN" sz="1050" b="1" i="0">
                        <a:solidFill>
                          <a:srgbClr val="D61B3C"/>
                        </a:solidFill>
                        <a:effectLst/>
                        <a:latin typeface="Segoe UI" panose="020B0502040204020203" pitchFamily="34" charset="0"/>
                      </a:endParaRPr>
                    </a:p>
                  </a:txBody>
                  <a:tcPr/>
                </a:tc>
                <a:tc>
                  <a:txBody>
                    <a:bodyPr/>
                    <a:lstStyle/>
                    <a:p>
                      <a:pPr algn="r" fontAlgn="t">
                        <a:buNone/>
                      </a:pPr>
                      <a:r>
                        <a:rPr lang="en-IN" sz="1050">
                          <a:effectLst/>
                        </a:rPr>
                        <a:t>100.00 %</a:t>
                      </a:r>
                      <a:endParaRPr lang="en-IN" sz="1050" b="1" i="0">
                        <a:solidFill>
                          <a:srgbClr val="212529"/>
                        </a:solidFill>
                        <a:effectLst/>
                        <a:latin typeface="Segoe UI" panose="020B0502040204020203" pitchFamily="34" charset="0"/>
                      </a:endParaRPr>
                    </a:p>
                  </a:txBody>
                  <a:tcPr/>
                </a:tc>
                <a:tc>
                  <a:txBody>
                    <a:bodyPr/>
                    <a:lstStyle/>
                    <a:p>
                      <a:pPr algn="r" fontAlgn="t">
                        <a:buNone/>
                      </a:pPr>
                      <a:r>
                        <a:rPr lang="en-IN" sz="1050">
                          <a:effectLst/>
                        </a:rPr>
                        <a:t>17</a:t>
                      </a:r>
                      <a:endParaRPr lang="en-IN" sz="1050" b="0" i="0">
                        <a:solidFill>
                          <a:srgbClr val="E64B3B"/>
                        </a:solidFill>
                        <a:effectLst/>
                        <a:latin typeface="Segoe UI" panose="020B0502040204020203" pitchFamily="34" charset="0"/>
                      </a:endParaRPr>
                    </a:p>
                  </a:txBody>
                  <a:tcPr/>
                </a:tc>
                <a:tc>
                  <a:txBody>
                    <a:bodyPr/>
                    <a:lstStyle/>
                    <a:p>
                      <a:pPr algn="r" fontAlgn="t">
                        <a:buNone/>
                      </a:pPr>
                      <a:r>
                        <a:rPr lang="en-IN" sz="1050">
                          <a:effectLst/>
                        </a:rPr>
                        <a:t>4.50 LPA</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2.36 LPA</a:t>
                      </a:r>
                      <a:endParaRPr lang="en-IN" sz="1050" b="0" i="0">
                        <a:solidFill>
                          <a:srgbClr val="212529"/>
                        </a:solidFill>
                        <a:effectLst/>
                        <a:latin typeface="Segoe UI" panose="020B0502040204020203" pitchFamily="34" charset="0"/>
                      </a:endParaRPr>
                    </a:p>
                  </a:txBody>
                  <a:tcPr/>
                </a:tc>
                <a:extLst>
                  <a:ext uri="{0D108BD9-81ED-4DB2-BD59-A6C34878D82A}">
                    <a16:rowId xmlns:a16="http://schemas.microsoft.com/office/drawing/2014/main" val="2639266968"/>
                  </a:ext>
                </a:extLst>
              </a:tr>
              <a:tr h="315949">
                <a:tc>
                  <a:txBody>
                    <a:bodyPr/>
                    <a:lstStyle/>
                    <a:p>
                      <a:pPr algn="ctr" fontAlgn="t">
                        <a:buNone/>
                      </a:pPr>
                      <a:r>
                        <a:rPr lang="en-IN" sz="1050">
                          <a:effectLst/>
                        </a:rPr>
                        <a:t>3</a:t>
                      </a:r>
                      <a:endParaRPr lang="en-IN" sz="1050" b="0" i="0">
                        <a:solidFill>
                          <a:srgbClr val="212529"/>
                        </a:solidFill>
                        <a:effectLst/>
                        <a:latin typeface="Segoe UI" panose="020B0502040204020203" pitchFamily="34" charset="0"/>
                      </a:endParaRPr>
                    </a:p>
                  </a:txBody>
                  <a:tcPr/>
                </a:tc>
                <a:tc>
                  <a:txBody>
                    <a:bodyPr/>
                    <a:lstStyle/>
                    <a:p>
                      <a:pPr algn="l" fontAlgn="t">
                        <a:buNone/>
                      </a:pPr>
                      <a:r>
                        <a:rPr lang="en-IN" sz="1050" u="none" strike="noStrike">
                          <a:effectLst/>
                          <a:hlinkClick r:id="rId5"/>
                        </a:rPr>
                        <a:t>MBA </a:t>
                      </a:r>
                      <a:r>
                        <a:rPr lang="en-IN" sz="1050">
                          <a:effectLst/>
                        </a:rPr>
                        <a:t> </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50</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24</a:t>
                      </a:r>
                      <a:endParaRPr lang="en-IN" sz="1050" b="1" i="0">
                        <a:solidFill>
                          <a:srgbClr val="D61B3C"/>
                        </a:solidFill>
                        <a:effectLst/>
                        <a:latin typeface="Segoe UI" panose="020B0502040204020203" pitchFamily="34" charset="0"/>
                      </a:endParaRPr>
                    </a:p>
                  </a:txBody>
                  <a:tcPr/>
                </a:tc>
                <a:tc>
                  <a:txBody>
                    <a:bodyPr/>
                    <a:lstStyle/>
                    <a:p>
                      <a:pPr algn="r" fontAlgn="t">
                        <a:buNone/>
                      </a:pPr>
                      <a:r>
                        <a:rPr lang="en-IN" sz="1050">
                          <a:effectLst/>
                        </a:rPr>
                        <a:t>48.00 %</a:t>
                      </a:r>
                      <a:endParaRPr lang="en-IN" sz="1050" b="1" i="0">
                        <a:solidFill>
                          <a:srgbClr val="212529"/>
                        </a:solidFill>
                        <a:effectLst/>
                        <a:latin typeface="Segoe UI" panose="020B0502040204020203" pitchFamily="34" charset="0"/>
                      </a:endParaRPr>
                    </a:p>
                  </a:txBody>
                  <a:tcPr/>
                </a:tc>
                <a:tc>
                  <a:txBody>
                    <a:bodyPr/>
                    <a:lstStyle/>
                    <a:p>
                      <a:pPr algn="r" fontAlgn="t">
                        <a:buNone/>
                      </a:pPr>
                      <a:r>
                        <a:rPr lang="en-IN" sz="1050">
                          <a:effectLst/>
                        </a:rPr>
                        <a:t>129</a:t>
                      </a:r>
                      <a:endParaRPr lang="en-IN" sz="1050" b="0" i="0">
                        <a:solidFill>
                          <a:srgbClr val="E64B3B"/>
                        </a:solidFill>
                        <a:effectLst/>
                        <a:latin typeface="Segoe UI" panose="020B0502040204020203" pitchFamily="34" charset="0"/>
                      </a:endParaRPr>
                    </a:p>
                  </a:txBody>
                  <a:tcPr/>
                </a:tc>
                <a:tc>
                  <a:txBody>
                    <a:bodyPr/>
                    <a:lstStyle/>
                    <a:p>
                      <a:pPr algn="r" fontAlgn="t">
                        <a:buNone/>
                      </a:pPr>
                      <a:r>
                        <a:rPr lang="en-IN" sz="1050">
                          <a:effectLst/>
                        </a:rPr>
                        <a:t>6.00 LPA</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2.78 LPA</a:t>
                      </a:r>
                      <a:endParaRPr lang="en-IN" sz="1050" b="0" i="0">
                        <a:solidFill>
                          <a:srgbClr val="212529"/>
                        </a:solidFill>
                        <a:effectLst/>
                        <a:latin typeface="Segoe UI" panose="020B0502040204020203" pitchFamily="34" charset="0"/>
                      </a:endParaRPr>
                    </a:p>
                  </a:txBody>
                  <a:tcPr/>
                </a:tc>
                <a:extLst>
                  <a:ext uri="{0D108BD9-81ED-4DB2-BD59-A6C34878D82A}">
                    <a16:rowId xmlns:a16="http://schemas.microsoft.com/office/drawing/2014/main" val="2382994576"/>
                  </a:ext>
                </a:extLst>
              </a:tr>
              <a:tr h="517008">
                <a:tc>
                  <a:txBody>
                    <a:bodyPr/>
                    <a:lstStyle/>
                    <a:p>
                      <a:pPr algn="ctr" fontAlgn="t">
                        <a:buNone/>
                      </a:pPr>
                      <a:r>
                        <a:rPr lang="en-IN" sz="1050">
                          <a:effectLst/>
                        </a:rPr>
                        <a:t>4</a:t>
                      </a:r>
                      <a:endParaRPr lang="en-IN" sz="1050" b="0" i="0">
                        <a:solidFill>
                          <a:srgbClr val="212529"/>
                        </a:solidFill>
                        <a:effectLst/>
                        <a:latin typeface="Segoe UI" panose="020B0502040204020203" pitchFamily="34" charset="0"/>
                      </a:endParaRPr>
                    </a:p>
                  </a:txBody>
                  <a:tcPr/>
                </a:tc>
                <a:tc>
                  <a:txBody>
                    <a:bodyPr/>
                    <a:lstStyle/>
                    <a:p>
                      <a:pPr algn="l" fontAlgn="t">
                        <a:buNone/>
                      </a:pPr>
                      <a:r>
                        <a:rPr lang="en-IN" sz="1050" u="none" strike="noStrike">
                          <a:effectLst/>
                          <a:hlinkClick r:id="rId6"/>
                        </a:rPr>
                        <a:t>B.Tech. (Mechanical) </a:t>
                      </a:r>
                      <a:r>
                        <a:rPr lang="en-IN" sz="1050">
                          <a:effectLst/>
                        </a:rPr>
                        <a:t> </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5</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5</a:t>
                      </a:r>
                      <a:endParaRPr lang="en-IN" sz="1050" b="1" i="0">
                        <a:solidFill>
                          <a:srgbClr val="D61B3C"/>
                        </a:solidFill>
                        <a:effectLst/>
                        <a:latin typeface="Segoe UI" panose="020B0502040204020203" pitchFamily="34" charset="0"/>
                      </a:endParaRPr>
                    </a:p>
                  </a:txBody>
                  <a:tcPr/>
                </a:tc>
                <a:tc>
                  <a:txBody>
                    <a:bodyPr/>
                    <a:lstStyle/>
                    <a:p>
                      <a:pPr algn="r" fontAlgn="t">
                        <a:buNone/>
                      </a:pPr>
                      <a:r>
                        <a:rPr lang="en-IN" sz="1050">
                          <a:effectLst/>
                        </a:rPr>
                        <a:t>100.00 %</a:t>
                      </a:r>
                      <a:endParaRPr lang="en-IN" sz="1050" b="1" i="0">
                        <a:solidFill>
                          <a:srgbClr val="212529"/>
                        </a:solidFill>
                        <a:effectLst/>
                        <a:latin typeface="Segoe UI" panose="020B0502040204020203" pitchFamily="34" charset="0"/>
                      </a:endParaRPr>
                    </a:p>
                  </a:txBody>
                  <a:tcPr/>
                </a:tc>
                <a:tc>
                  <a:txBody>
                    <a:bodyPr/>
                    <a:lstStyle/>
                    <a:p>
                      <a:pPr algn="r" fontAlgn="t">
                        <a:buNone/>
                      </a:pPr>
                      <a:r>
                        <a:rPr lang="en-IN" sz="1050">
                          <a:effectLst/>
                        </a:rPr>
                        <a:t>22</a:t>
                      </a:r>
                      <a:endParaRPr lang="en-IN" sz="1050" b="0" i="0">
                        <a:solidFill>
                          <a:srgbClr val="E64B3B"/>
                        </a:solidFill>
                        <a:effectLst/>
                        <a:latin typeface="Segoe UI" panose="020B0502040204020203" pitchFamily="34" charset="0"/>
                      </a:endParaRPr>
                    </a:p>
                  </a:txBody>
                  <a:tcPr/>
                </a:tc>
                <a:tc>
                  <a:txBody>
                    <a:bodyPr/>
                    <a:lstStyle/>
                    <a:p>
                      <a:pPr algn="r" fontAlgn="t">
                        <a:buNone/>
                      </a:pPr>
                      <a:r>
                        <a:rPr lang="en-IN" sz="1050">
                          <a:effectLst/>
                        </a:rPr>
                        <a:t>3.00 LPA</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2.32 LPA</a:t>
                      </a:r>
                      <a:endParaRPr lang="en-IN" sz="1050" b="0" i="0">
                        <a:solidFill>
                          <a:srgbClr val="212529"/>
                        </a:solidFill>
                        <a:effectLst/>
                        <a:latin typeface="Segoe UI" panose="020B0502040204020203" pitchFamily="34" charset="0"/>
                      </a:endParaRPr>
                    </a:p>
                  </a:txBody>
                  <a:tcPr/>
                </a:tc>
                <a:extLst>
                  <a:ext uri="{0D108BD9-81ED-4DB2-BD59-A6C34878D82A}">
                    <a16:rowId xmlns:a16="http://schemas.microsoft.com/office/drawing/2014/main" val="3694615880"/>
                  </a:ext>
                </a:extLst>
              </a:tr>
              <a:tr h="315949">
                <a:tc>
                  <a:txBody>
                    <a:bodyPr/>
                    <a:lstStyle/>
                    <a:p>
                      <a:pPr algn="ctr" fontAlgn="t">
                        <a:buNone/>
                      </a:pPr>
                      <a:r>
                        <a:rPr lang="en-IN" sz="1050">
                          <a:effectLst/>
                        </a:rPr>
                        <a:t>5</a:t>
                      </a:r>
                      <a:endParaRPr lang="en-IN" sz="1050" b="0" i="0">
                        <a:solidFill>
                          <a:srgbClr val="212529"/>
                        </a:solidFill>
                        <a:effectLst/>
                        <a:latin typeface="Segoe UI" panose="020B0502040204020203" pitchFamily="34" charset="0"/>
                      </a:endParaRPr>
                    </a:p>
                  </a:txBody>
                  <a:tcPr/>
                </a:tc>
                <a:tc>
                  <a:txBody>
                    <a:bodyPr/>
                    <a:lstStyle/>
                    <a:p>
                      <a:pPr algn="l" fontAlgn="t">
                        <a:buNone/>
                      </a:pPr>
                      <a:r>
                        <a:rPr lang="en-IN" sz="1050" u="none" strike="noStrike">
                          <a:effectLst/>
                          <a:hlinkClick r:id="rId7"/>
                        </a:rPr>
                        <a:t>MCA </a:t>
                      </a:r>
                      <a:r>
                        <a:rPr lang="en-IN" sz="1050">
                          <a:effectLst/>
                        </a:rPr>
                        <a:t> </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48</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a:effectLst/>
                        </a:rPr>
                        <a:t>42</a:t>
                      </a:r>
                      <a:endParaRPr lang="en-IN" sz="1050" b="1" i="0">
                        <a:solidFill>
                          <a:srgbClr val="D61B3C"/>
                        </a:solidFill>
                        <a:effectLst/>
                        <a:latin typeface="Segoe UI" panose="020B0502040204020203" pitchFamily="34" charset="0"/>
                      </a:endParaRPr>
                    </a:p>
                  </a:txBody>
                  <a:tcPr/>
                </a:tc>
                <a:tc>
                  <a:txBody>
                    <a:bodyPr/>
                    <a:lstStyle/>
                    <a:p>
                      <a:pPr algn="r" fontAlgn="t">
                        <a:buNone/>
                      </a:pPr>
                      <a:r>
                        <a:rPr lang="en-IN" sz="1050">
                          <a:effectLst/>
                        </a:rPr>
                        <a:t>87.50 %</a:t>
                      </a:r>
                      <a:endParaRPr lang="en-IN" sz="1050" b="1" i="0">
                        <a:solidFill>
                          <a:srgbClr val="212529"/>
                        </a:solidFill>
                        <a:effectLst/>
                        <a:latin typeface="Segoe UI" panose="020B0502040204020203" pitchFamily="34" charset="0"/>
                      </a:endParaRPr>
                    </a:p>
                  </a:txBody>
                  <a:tcPr/>
                </a:tc>
                <a:tc>
                  <a:txBody>
                    <a:bodyPr/>
                    <a:lstStyle/>
                    <a:p>
                      <a:pPr algn="r" fontAlgn="t">
                        <a:buNone/>
                      </a:pPr>
                      <a:r>
                        <a:rPr lang="en-IN" sz="1050">
                          <a:effectLst/>
                        </a:rPr>
                        <a:t>45</a:t>
                      </a:r>
                      <a:endParaRPr lang="en-IN" sz="1050" b="0" i="0">
                        <a:solidFill>
                          <a:srgbClr val="E64B3B"/>
                        </a:solidFill>
                        <a:effectLst/>
                        <a:latin typeface="Segoe UI" panose="020B0502040204020203" pitchFamily="34" charset="0"/>
                      </a:endParaRPr>
                    </a:p>
                  </a:txBody>
                  <a:tcPr/>
                </a:tc>
                <a:tc>
                  <a:txBody>
                    <a:bodyPr/>
                    <a:lstStyle/>
                    <a:p>
                      <a:pPr algn="r" fontAlgn="t">
                        <a:buNone/>
                      </a:pPr>
                      <a:r>
                        <a:rPr lang="en-IN" sz="1050">
                          <a:effectLst/>
                        </a:rPr>
                        <a:t>4.00 LPA</a:t>
                      </a:r>
                      <a:endParaRPr lang="en-IN" sz="1050" b="0" i="0">
                        <a:solidFill>
                          <a:srgbClr val="212529"/>
                        </a:solidFill>
                        <a:effectLst/>
                        <a:latin typeface="Segoe UI" panose="020B0502040204020203" pitchFamily="34" charset="0"/>
                      </a:endParaRPr>
                    </a:p>
                  </a:txBody>
                  <a:tcPr/>
                </a:tc>
                <a:tc>
                  <a:txBody>
                    <a:bodyPr/>
                    <a:lstStyle/>
                    <a:p>
                      <a:pPr algn="r" fontAlgn="t">
                        <a:buNone/>
                      </a:pPr>
                      <a:r>
                        <a:rPr lang="en-IN" sz="1050" dirty="0">
                          <a:effectLst/>
                        </a:rPr>
                        <a:t>2.23 LPA</a:t>
                      </a:r>
                      <a:endParaRPr lang="en-IN" sz="1050" b="0" i="0" dirty="0">
                        <a:solidFill>
                          <a:srgbClr val="212529"/>
                        </a:solidFill>
                        <a:effectLst/>
                        <a:latin typeface="Segoe UI" panose="020B0502040204020203" pitchFamily="34" charset="0"/>
                      </a:endParaRPr>
                    </a:p>
                  </a:txBody>
                  <a:tcPr/>
                </a:tc>
                <a:extLst>
                  <a:ext uri="{0D108BD9-81ED-4DB2-BD59-A6C34878D82A}">
                    <a16:rowId xmlns:a16="http://schemas.microsoft.com/office/drawing/2014/main" val="3608600803"/>
                  </a:ext>
                </a:extLst>
              </a:tr>
            </a:tbl>
          </a:graphicData>
        </a:graphic>
      </p:graphicFrame>
    </p:spTree>
    <p:extLst>
      <p:ext uri="{BB962C8B-B14F-4D97-AF65-F5344CB8AC3E}">
        <p14:creationId xmlns:p14="http://schemas.microsoft.com/office/powerpoint/2010/main" val="244362857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54F5-E540-495D-95CC-54B7DB0EEF36}"/>
              </a:ext>
            </a:extLst>
          </p:cNvPr>
          <p:cNvSpPr>
            <a:spLocks noGrp="1"/>
          </p:cNvSpPr>
          <p:nvPr>
            <p:ph type="ctrTitle"/>
          </p:nvPr>
        </p:nvSpPr>
        <p:spPr>
          <a:xfrm>
            <a:off x="1915385" y="2178719"/>
            <a:ext cx="8361229" cy="2098226"/>
          </a:xfrm>
        </p:spPr>
        <p:txBody>
          <a:bodyPr/>
          <a:lstStyle/>
          <a:p>
            <a:r>
              <a:rPr lang="en-US" sz="11000" dirty="0"/>
              <a:t>THANK YOU !</a:t>
            </a:r>
            <a:endParaRPr lang="en-IN" sz="11000" dirty="0"/>
          </a:p>
        </p:txBody>
      </p:sp>
    </p:spTree>
    <p:extLst>
      <p:ext uri="{BB962C8B-B14F-4D97-AF65-F5344CB8AC3E}">
        <p14:creationId xmlns:p14="http://schemas.microsoft.com/office/powerpoint/2010/main" val="414842790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{94F2C036-B64D-4042-B4BE-11F3D664E316}TFc3084226-2d0c-440f-9f46-6b48c7a7f670e6ba4a85-fc4a2881d6b3</Template>
  <TotalTime>61</TotalTime>
  <Words>1191</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Franklin Gothic Book</vt:lpstr>
      <vt:lpstr>Segoe UI</vt:lpstr>
      <vt:lpstr>Crop</vt:lpstr>
      <vt:lpstr>Enrollment no : 25010101240 Name : SHREENA SOLIA department : BTECH CSE  semester : 3 subject :  OAT</vt:lpstr>
      <vt:lpstr>About Darshan University</vt:lpstr>
      <vt:lpstr>Dr. Ramnik G. Dhamsaniya President </vt:lpstr>
      <vt:lpstr>Prof. Manish V. Sanghani Provost</vt:lpstr>
      <vt:lpstr>University Authority  BoS – (Computer Science &amp; Engineering)</vt:lpstr>
      <vt:lpstr>Programs Offered </vt:lpstr>
      <vt:lpstr>Why Darshan University ?</vt:lpstr>
      <vt:lpstr>Government Scholarships</vt:lpstr>
      <vt:lpstr>PowerPoint Presentation</vt:lpstr>
      <vt:lpstr>PowerPoint Presentation</vt:lpstr>
      <vt:lpstr>Placement Summary (2025)</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Shreena Solia</dc:creator>
  <cp:lastModifiedBy>Shreena Solia</cp:lastModifiedBy>
  <cp:revision>1</cp:revision>
  <dcterms:created xsi:type="dcterms:W3CDTF">2026-09-24T06:55:52Z</dcterms:created>
  <dcterms:modified xsi:type="dcterms:W3CDTF">2026-09-24T07:57:18Z</dcterms:modified>
</cp:coreProperties>
</file>